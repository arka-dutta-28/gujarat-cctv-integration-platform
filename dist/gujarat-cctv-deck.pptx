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Night</c:v>
                </c:pt>
              </c:strCache>
            </c:strRef>
          </c:tx>
          <c:spPr>
            <a:solidFill>
              <a:srgbClr val="1A62B0"/>
            </a:solidFill>
            <a:ln>
              <a:noFill/>
            </a:ln>
          </c:spPr>
          <c:cat>
            <c:strRef>
              <c:f>Sheet1!$A$2:$A$4</c:f>
              <c:strCache>
                <c:ptCount val="3"/>
                <c:pt idx="0">
                  <c:v>Tesseract</c:v>
                </c:pt>
                <c:pt idx="1">
                  <c:v>docTR PARSeq</c:v>
                </c:pt>
                <c:pt idx="2">
                  <c:v>PaddleOCR-VL</c:v>
                </c:pt>
              </c:strCache>
            </c:strRef>
          </c:cat>
          <c:val>
            <c:numRef>
              <c:f>Sheet1!$B$2:$B$4</c:f>
              <c:numCache>
                <c:formatCode>General</c:formatCode>
                <c:ptCount val="3"/>
                <c:pt idx="0">
                  <c:v>34.7</c:v>
                </c:pt>
                <c:pt idx="1">
                  <c:v>62.4</c:v>
                </c:pt>
                <c:pt idx="2">
                  <c:v>100.0</c:v>
                </c:pt>
              </c:numCache>
            </c:numRef>
          </c:val>
        </c:ser>
        <c:ser>
          <c:idx val="1"/>
          <c:order val="1"/>
          <c:tx>
            <c:strRef>
              <c:f>Sheet1!$C$1</c:f>
              <c:strCache>
                <c:ptCount val="1"/>
                <c:pt idx="0">
                  <c:v>Day</c:v>
                </c:pt>
              </c:strCache>
            </c:strRef>
          </c:tx>
          <c:spPr>
            <a:solidFill>
              <a:srgbClr val="B08800"/>
            </a:solidFill>
            <a:ln>
              <a:noFill/>
            </a:ln>
          </c:spPr>
          <c:cat>
            <c:strRef>
              <c:f>Sheet1!$A$2:$A$4</c:f>
              <c:strCache>
                <c:ptCount val="3"/>
                <c:pt idx="0">
                  <c:v>Tesseract</c:v>
                </c:pt>
                <c:pt idx="1">
                  <c:v>docTR PARSeq</c:v>
                </c:pt>
                <c:pt idx="2">
                  <c:v>PaddleOCR-VL</c:v>
                </c:pt>
              </c:strCache>
            </c:strRef>
          </c:cat>
          <c:val>
            <c:numRef>
              <c:f>Sheet1!$C$2:$C$4</c:f>
              <c:numCache>
                <c:formatCode>General</c:formatCode>
                <c:ptCount val="3"/>
                <c:pt idx="0">
                  <c:v>84.1</c:v>
                </c:pt>
                <c:pt idx="1">
                  <c:v>95.7</c:v>
                </c:pt>
                <c:pt idx="2">
                  <c:v>100.0</c:v>
                </c:pt>
              </c:numCache>
            </c:numRef>
          </c:val>
        </c:ser>
        <c:dLbls>
          <c:numFmt formatCode="0.0&quot;%&quot;" sourceLinked="0"/>
          <c:txPr>
            <a:bodyPr/>
            <a:lstStyle/>
            <a:p>
              <a:pPr>
                <a:defRPr sz="850" b="1">
                  <a:solidFill>
                    <a:srgbClr val="0E1721"/>
                  </a:solidFill>
                </a:defRPr>
              </a:pPr>
            </a:p>
          </c:txPr>
          <c:dLblPos val="outEnd"/>
          <c:showLegendKey val="0"/>
          <c:showVal val="1"/>
          <c:showCatName val="0"/>
          <c:showSerName val="0"/>
          <c:showPercent val="0"/>
          <c:showBubbleSize val="0"/>
          <c:showLeaderLines val="1"/>
        </c:dLbls>
        <c:gapWidth val="130"/>
        <c:overlap val="-12"/>
        <c:axId val="-2068027336"/>
        <c:axId val="-2113994440"/>
      </c:barChart>
      <c:catAx>
        <c:axId val="-2068027336"/>
        <c:scaling>
          <c:orientation val="minMax"/>
        </c:scaling>
        <c:delete val="0"/>
        <c:axPos val="b"/>
        <c:majorTickMark val="out"/>
        <c:minorTickMark val="none"/>
        <c:tickLblPos val="nextTo"/>
        <c:spPr>
          <a:ln>
            <a:solidFill>
              <a:srgbClr val="DCE3E8"/>
            </a:solidFill>
          </a:ln>
        </c:spPr>
        <c:txPr>
          <a:bodyPr/>
          <a:lstStyle/>
          <a:p>
            <a:pPr>
              <a:defRPr sz="900"/>
            </a:pPr>
          </a:p>
        </c:txPr>
        <c:crossAx val="-2113994440"/>
        <c:crosses val="autoZero"/>
        <c:auto val="1"/>
        <c:lblAlgn val="ctr"/>
        <c:lblOffset val="100"/>
        <c:noMultiLvlLbl val="0"/>
      </c:catAx>
      <c:valAx>
        <c:axId val="-2113994440"/>
        <c:scaling>
          <c:max val="100.0"/>
          <c:min val="0.0"/>
        </c:scaling>
        <c:delete val="0"/>
        <c:axPos val="l"/>
        <c:majorGridlines>
          <c:spPr>
            <a:ln w="6350">
              <a:solidFill>
                <a:srgbClr val="DCE3E8"/>
              </a:solidFill>
            </a:ln>
          </c:spPr>
        </c:majorGridlines>
        <c:majorTickMark val="out"/>
        <c:minorTickMark val="none"/>
        <c:tickLblPos val="nextTo"/>
        <c:txPr>
          <a:bodyPr/>
          <a:lstStyle/>
          <a:p>
            <a:pPr>
              <a:defRPr sz="800"/>
            </a:pPr>
          </a:p>
        </c:txPr>
        <c:crossAx val="-2068027336"/>
        <c:crosses val="autoZero"/>
      </c:valAx>
    </c:plotArea>
    <c:legend>
      <c:legendPos val="t"/>
      <c:overlay val="0"/>
      <c:txPr>
        <a:bodyPr/>
        <a:lstStyle/>
        <a:p>
          <a:pPr>
            <a:defRPr sz="900"/>
          </a:pPr>
        </a:p>
      </c:txPr>
    </c:legend>
    <c:dispBlanksAs val="gap"/>
  </c:chart>
  <c:txPr>
    <a:bodyPr/>
    <a:lstStyle/>
    <a:p>
      <a:pPr>
        <a:defRPr sz="900">
          <a:solidFill>
            <a:srgbClr val="47586A"/>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721"/>
        </a:solidFill>
        <a:effectLst/>
      </p:bgPr>
    </p:bg>
    <p:spTree>
      <p:nvGrpSpPr>
        <p:cNvPr id="1" name=""/>
        <p:cNvGrpSpPr/>
        <p:nvPr/>
      </p:nvGrpSpPr>
      <p:grpSpPr/>
      <p:sp>
        <p:nvSpPr>
          <p:cNvPr id="2" name="Rectangle 1"/>
          <p:cNvSpPr/>
          <p:nvPr/>
        </p:nvSpPr>
        <p:spPr>
          <a:xfrm>
            <a:off x="0" y="0"/>
            <a:ext cx="310896" cy="6858000"/>
          </a:xfrm>
          <a:prstGeom prst="rect">
            <a:avLst/>
          </a:prstGeom>
          <a:solidFill>
            <a:srgbClr val="E8B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6437376"/>
            <a:ext cx="10911535" cy="9525"/>
          </a:xfrm>
          <a:prstGeom prst="rect">
            <a:avLst/>
          </a:prstGeom>
          <a:solidFill>
            <a:srgbClr val="2C3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528816"/>
            <a:ext cx="10180015" cy="219456"/>
          </a:xfrm>
          <a:prstGeom prst="rect">
            <a:avLst/>
          </a:prstGeom>
          <a:noFill/>
        </p:spPr>
        <p:txBody>
          <a:bodyPr wrap="square" lIns="0" rIns="0" tIns="0" bIns="0">
            <a:spAutoFit/>
          </a:bodyPr>
          <a:lstStyle/>
          <a:p>
            <a:r>
              <a:rPr sz="750" b="0" i="0">
                <a:solidFill>
                  <a:srgbClr val="8A9BA8"/>
                </a:solidFill>
                <a:latin typeface="Consolas"/>
              </a:rPr>
              <a:t>Gujarat Police Hackathon 2026  ·  Statewide CCTV Integration</a:t>
            </a:r>
          </a:p>
        </p:txBody>
      </p:sp>
      <p:sp>
        <p:nvSpPr>
          <p:cNvPr id="5" name="TextBox 4"/>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8A9BA8"/>
                </a:solidFill>
                <a:latin typeface="Consolas"/>
              </a:rPr>
              <a:t>01</a:t>
            </a:r>
          </a:p>
        </p:txBody>
      </p:sp>
      <p:sp>
        <p:nvSpPr>
          <p:cNvPr id="6" name="TextBox 5"/>
          <p:cNvSpPr txBox="1"/>
          <p:nvPr/>
        </p:nvSpPr>
        <p:spPr>
          <a:xfrm>
            <a:off x="713232" y="530352"/>
            <a:ext cx="10911535" cy="237744"/>
          </a:xfrm>
          <a:prstGeom prst="rect">
            <a:avLst/>
          </a:prstGeom>
          <a:noFill/>
        </p:spPr>
        <p:txBody>
          <a:bodyPr wrap="square" lIns="0" rIns="0" tIns="0" bIns="0">
            <a:spAutoFit/>
          </a:bodyPr>
          <a:lstStyle/>
          <a:p>
            <a:r>
              <a:rPr sz="850" b="1" i="0" spc="90">
                <a:solidFill>
                  <a:srgbClr val="E8B921"/>
                </a:solidFill>
                <a:latin typeface="Consolas"/>
              </a:rPr>
              <a:t>GUJARAT POLICE HACKATHON 2026</a:t>
            </a:r>
          </a:p>
        </p:txBody>
      </p:sp>
      <p:sp>
        <p:nvSpPr>
          <p:cNvPr id="7" name="TextBox 6"/>
          <p:cNvSpPr txBox="1"/>
          <p:nvPr/>
        </p:nvSpPr>
        <p:spPr>
          <a:xfrm>
            <a:off x="713232" y="841248"/>
            <a:ext cx="10911535" cy="822960"/>
          </a:xfrm>
          <a:prstGeom prst="rect">
            <a:avLst/>
          </a:prstGeom>
          <a:noFill/>
        </p:spPr>
        <p:txBody>
          <a:bodyPr wrap="square" lIns="0" rIns="0" tIns="0" bIns="0">
            <a:spAutoFit/>
          </a:bodyPr>
          <a:lstStyle/>
          <a:p>
            <a:r>
              <a:rPr sz="4000" b="1" i="0">
                <a:solidFill>
                  <a:srgbClr val="FFFFFF"/>
                </a:solidFill>
                <a:latin typeface="Calibri"/>
              </a:rPr>
              <a:t>Statewide CCTV Integration &amp; Vehicle Intelligence</a:t>
            </a:r>
          </a:p>
        </p:txBody>
      </p:sp>
      <p:sp>
        <p:nvSpPr>
          <p:cNvPr id="8" name="Rectangle 7"/>
          <p:cNvSpPr/>
          <p:nvPr/>
        </p:nvSpPr>
        <p:spPr>
          <a:xfrm>
            <a:off x="713232" y="1649984"/>
            <a:ext cx="1463040" cy="44450"/>
          </a:xfrm>
          <a:prstGeom prst="rect">
            <a:avLst/>
          </a:prstGeom>
          <a:solidFill>
            <a:srgbClr val="E8B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87728"/>
            <a:ext cx="10911535" cy="274320"/>
          </a:xfrm>
          <a:prstGeom prst="rect">
            <a:avLst/>
          </a:prstGeom>
          <a:noFill/>
        </p:spPr>
        <p:txBody>
          <a:bodyPr wrap="square" lIns="0" rIns="0" tIns="0" bIns="0">
            <a:spAutoFit/>
          </a:bodyPr>
          <a:lstStyle/>
          <a:p>
            <a:r>
              <a:rPr sz="1050" b="0" i="0">
                <a:solidFill>
                  <a:srgbClr val="C2CED8"/>
                </a:solidFill>
                <a:latin typeface="Calibri"/>
              </a:rPr>
              <a:t>An edge-first federated architecture: Model 1 registry as control plane, Model 2 feed access, Model 3 adapter spine.</a:t>
            </a:r>
          </a:p>
        </p:txBody>
      </p:sp>
      <p:sp>
        <p:nvSpPr>
          <p:cNvPr id="10" name="TextBox 9"/>
          <p:cNvSpPr txBox="1"/>
          <p:nvPr/>
        </p:nvSpPr>
        <p:spPr>
          <a:xfrm>
            <a:off x="713232" y="2249297"/>
            <a:ext cx="2727883" cy="640080"/>
          </a:xfrm>
          <a:prstGeom prst="rect">
            <a:avLst/>
          </a:prstGeom>
          <a:noFill/>
        </p:spPr>
        <p:txBody>
          <a:bodyPr wrap="square" lIns="0" rIns="0" tIns="0" bIns="0">
            <a:spAutoFit/>
          </a:bodyPr>
          <a:lstStyle/>
          <a:p>
            <a:r>
              <a:rPr sz="3000" b="1" i="0">
                <a:solidFill>
                  <a:srgbClr val="5EA0E0"/>
                </a:solidFill>
                <a:latin typeface="Calibri"/>
              </a:rPr>
              <a:t>80</a:t>
            </a:r>
          </a:p>
          <a:p>
            <a:r>
              <a:rPr sz="750" b="0" i="0" spc="60">
                <a:solidFill>
                  <a:srgbClr val="8A9BA8"/>
                </a:solidFill>
                <a:latin typeface="Consolas"/>
              </a:rPr>
              <a:t>CAMERAS ONBOARDED</a:t>
            </a:r>
          </a:p>
        </p:txBody>
      </p:sp>
      <p:sp>
        <p:nvSpPr>
          <p:cNvPr id="11" name="TextBox 10"/>
          <p:cNvSpPr txBox="1"/>
          <p:nvPr/>
        </p:nvSpPr>
        <p:spPr>
          <a:xfrm>
            <a:off x="3441115" y="2249297"/>
            <a:ext cx="2727883" cy="640080"/>
          </a:xfrm>
          <a:prstGeom prst="rect">
            <a:avLst/>
          </a:prstGeom>
          <a:noFill/>
        </p:spPr>
        <p:txBody>
          <a:bodyPr wrap="square" lIns="0" rIns="0" tIns="0" bIns="0">
            <a:spAutoFit/>
          </a:bodyPr>
          <a:lstStyle/>
          <a:p>
            <a:r>
              <a:rPr sz="3000" b="1" i="0">
                <a:solidFill>
                  <a:srgbClr val="5EA0E0"/>
                </a:solidFill>
                <a:latin typeface="Calibri"/>
              </a:rPr>
              <a:t>26 ms</a:t>
            </a:r>
          </a:p>
          <a:p>
            <a:r>
              <a:rPr sz="750" b="0" i="0" spc="60">
                <a:solidFill>
                  <a:srgbClr val="8A9BA8"/>
                </a:solidFill>
                <a:latin typeface="Consolas"/>
              </a:rPr>
              <a:t>VEHICLE TRACE</a:t>
            </a:r>
          </a:p>
        </p:txBody>
      </p:sp>
      <p:sp>
        <p:nvSpPr>
          <p:cNvPr id="12" name="TextBox 11"/>
          <p:cNvSpPr txBox="1"/>
          <p:nvPr/>
        </p:nvSpPr>
        <p:spPr>
          <a:xfrm>
            <a:off x="6168998" y="2249297"/>
            <a:ext cx="2727883" cy="640080"/>
          </a:xfrm>
          <a:prstGeom prst="rect">
            <a:avLst/>
          </a:prstGeom>
          <a:noFill/>
        </p:spPr>
        <p:txBody>
          <a:bodyPr wrap="square" lIns="0" rIns="0" tIns="0" bIns="0">
            <a:spAutoFit/>
          </a:bodyPr>
          <a:lstStyle/>
          <a:p>
            <a:r>
              <a:rPr sz="3000" b="1" i="0">
                <a:solidFill>
                  <a:srgbClr val="5EA0E0"/>
                </a:solidFill>
                <a:latin typeface="Calibri"/>
              </a:rPr>
              <a:t>1.04 s</a:t>
            </a:r>
          </a:p>
          <a:p>
            <a:r>
              <a:rPr sz="750" b="0" i="0" spc="60">
                <a:solidFill>
                  <a:srgbClr val="8A9BA8"/>
                </a:solidFill>
                <a:latin typeface="Consolas"/>
              </a:rPr>
              <a:t>DETECTION → ALERT</a:t>
            </a:r>
          </a:p>
        </p:txBody>
      </p:sp>
      <p:sp>
        <p:nvSpPr>
          <p:cNvPr id="13" name="TextBox 12"/>
          <p:cNvSpPr txBox="1"/>
          <p:nvPr/>
        </p:nvSpPr>
        <p:spPr>
          <a:xfrm>
            <a:off x="8896881" y="2249297"/>
            <a:ext cx="2727883" cy="640080"/>
          </a:xfrm>
          <a:prstGeom prst="rect">
            <a:avLst/>
          </a:prstGeom>
          <a:noFill/>
        </p:spPr>
        <p:txBody>
          <a:bodyPr wrap="square" lIns="0" rIns="0" tIns="0" bIns="0">
            <a:spAutoFit/>
          </a:bodyPr>
          <a:lstStyle/>
          <a:p>
            <a:r>
              <a:rPr sz="3000" b="1" i="0">
                <a:solidFill>
                  <a:srgbClr val="5EA0E0"/>
                </a:solidFill>
                <a:latin typeface="Calibri"/>
              </a:rPr>
              <a:t>869</a:t>
            </a:r>
          </a:p>
          <a:p>
            <a:r>
              <a:rPr sz="750" b="0" i="0" spc="60">
                <a:solidFill>
                  <a:srgbClr val="8A9BA8"/>
                </a:solidFill>
                <a:latin typeface="Consolas"/>
              </a:rPr>
              <a:t>AUTOMATED TESTS</a:t>
            </a:r>
          </a:p>
        </p:txBody>
      </p:sp>
      <p:sp>
        <p:nvSpPr>
          <p:cNvPr id="14" name="Rectangle 13"/>
          <p:cNvSpPr/>
          <p:nvPr/>
        </p:nvSpPr>
        <p:spPr>
          <a:xfrm>
            <a:off x="713232" y="6054979"/>
            <a:ext cx="10911535" cy="9525"/>
          </a:xfrm>
          <a:prstGeom prst="rect">
            <a:avLst/>
          </a:prstGeom>
          <a:solidFill>
            <a:srgbClr val="2C3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6146419"/>
            <a:ext cx="10911535" cy="274320"/>
          </a:xfrm>
          <a:prstGeom prst="rect">
            <a:avLst/>
          </a:prstGeom>
          <a:noFill/>
        </p:spPr>
        <p:txBody>
          <a:bodyPr wrap="square" lIns="0" rIns="0" tIns="0" bIns="0">
            <a:spAutoFit/>
          </a:bodyPr>
          <a:lstStyle/>
          <a:p>
            <a:r>
              <a:rPr sz="850" b="1" i="0">
                <a:solidFill>
                  <a:srgbClr val="8A9BA8"/>
                </a:solidFill>
                <a:latin typeface="Consolas"/>
              </a:rPr>
              <a:t>Working platform.</a:t>
            </a:r>
            <a:r>
              <a:rPr sz="850" b="0" i="0">
                <a:solidFill>
                  <a:srgbClr val="8A9BA8"/>
                </a:solidFill>
                <a:latin typeface="Consolas"/>
              </a:rPr>
              <a:t> Every figure in this deck is measured on the running system, or arithmetic from a measured figure with the calculation shown.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721"/>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2C3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8A9BA8"/>
                </a:solidFill>
                <a:latin typeface="Consolas"/>
              </a:rPr>
              <a:t>FRAMING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8A9BA8"/>
                </a:solidFill>
                <a:latin typeface="Consolas"/>
              </a:rPr>
              <a:t>02</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8A9BA8"/>
                </a:solidFill>
                <a:latin typeface="Consolas"/>
              </a:rPr>
              <a:t>THE CONSTRAINT THAT SHAPES EVERYTHING</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FFFFFF"/>
                </a:solidFill>
                <a:latin typeface="Calibri"/>
              </a:rPr>
              <a:t>“Participants will be provided with a designated vehicle registration number.”</a:t>
            </a:r>
          </a:p>
        </p:txBody>
      </p:sp>
      <p:sp>
        <p:nvSpPr>
          <p:cNvPr id="7" name="Rectangle 6"/>
          <p:cNvSpPr/>
          <p:nvPr/>
        </p:nvSpPr>
        <p:spPr>
          <a:xfrm>
            <a:off x="713232" y="1285875"/>
            <a:ext cx="841248" cy="34925"/>
          </a:xfrm>
          <a:prstGeom prst="rect">
            <a:avLst/>
          </a:prstGeom>
          <a:solidFill>
            <a:srgbClr val="E8B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728548"/>
            <a:ext cx="5336895" cy="274320"/>
          </a:xfrm>
          <a:prstGeom prst="rect">
            <a:avLst/>
          </a:prstGeom>
          <a:noFill/>
        </p:spPr>
        <p:txBody>
          <a:bodyPr wrap="square" lIns="0" rIns="0" tIns="0" bIns="0">
            <a:spAutoFit/>
          </a:bodyPr>
          <a:lstStyle/>
          <a:p>
            <a:r>
              <a:rPr sz="1300" b="0" i="0">
                <a:solidFill>
                  <a:srgbClr val="C2CED8"/>
                </a:solidFill>
                <a:latin typeface="Calibri"/>
              </a:rPr>
              <a:t>By the time that number is handed over, </a:t>
            </a:r>
            <a:r>
              <a:rPr sz="1300" b="1" i="0">
                <a:solidFill>
                  <a:srgbClr val="C2CED8"/>
                </a:solidFill>
                <a:latin typeface="Calibri"/>
              </a:rPr>
              <a:t>the vehicle has already driven past the cameras.</a:t>
            </a:r>
            <a:r>
              <a:rPr sz="1300" b="0" i="0">
                <a:solidFill>
                  <a:srgbClr val="C2CED8"/>
                </a:solidFill>
                <a:latin typeface="Calibri"/>
              </a:rPr>
              <a:t> There is no opportunity to go and look for it.</a:t>
            </a:r>
          </a:p>
        </p:txBody>
      </p:sp>
      <p:sp>
        <p:nvSpPr>
          <p:cNvPr id="9" name="TextBox 8"/>
          <p:cNvSpPr txBox="1"/>
          <p:nvPr/>
        </p:nvSpPr>
        <p:spPr>
          <a:xfrm>
            <a:off x="713232" y="3308176"/>
            <a:ext cx="5336895" cy="274320"/>
          </a:xfrm>
          <a:prstGeom prst="rect">
            <a:avLst/>
          </a:prstGeom>
          <a:noFill/>
        </p:spPr>
        <p:txBody>
          <a:bodyPr wrap="square" lIns="0" rIns="0" tIns="0" bIns="0">
            <a:spAutoFit/>
          </a:bodyPr>
          <a:lstStyle/>
          <a:p>
            <a:r>
              <a:rPr sz="1300" b="0" i="0">
                <a:solidFill>
                  <a:srgbClr val="C2CED8"/>
                </a:solidFill>
                <a:latin typeface="Calibri"/>
              </a:rPr>
              <a:t>The only thing that can answer is an index of </a:t>
            </a:r>
            <a:r>
              <a:rPr sz="1300" b="1" i="0">
                <a:solidFill>
                  <a:srgbClr val="C2CED8"/>
                </a:solidFill>
                <a:latin typeface="Calibri"/>
              </a:rPr>
              <a:t>every plate already read</a:t>
            </a:r>
            <a:r>
              <a:rPr sz="1300" b="0" i="0">
                <a:solidFill>
                  <a:srgbClr val="C2CED8"/>
                </a:solidFill>
                <a:latin typeface="Calibri"/>
              </a:rPr>
              <a:t>.</a:t>
            </a:r>
          </a:p>
        </p:txBody>
      </p:sp>
      <p:sp>
        <p:nvSpPr>
          <p:cNvPr id="10" name="Rectangle 9"/>
          <p:cNvSpPr/>
          <p:nvPr/>
        </p:nvSpPr>
        <p:spPr>
          <a:xfrm>
            <a:off x="6287871" y="2728548"/>
            <a:ext cx="5336895" cy="1223568"/>
          </a:xfrm>
          <a:prstGeom prst="rect">
            <a:avLst/>
          </a:prstGeom>
          <a:solidFill>
            <a:srgbClr val="17222E"/>
          </a:solidFill>
          <a:ln w="9525">
            <a:solidFill>
              <a:srgbClr val="2C3B49"/>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750" b="1" i="0" spc="60">
                <a:solidFill>
                  <a:srgbClr val="E8B921"/>
                </a:solidFill>
                <a:latin typeface="Consolas"/>
              </a:rPr>
              <a:t>CONSEQUENCE</a:t>
            </a:r>
          </a:p>
          <a:p>
            <a:pPr algn="l">
              <a:spcAft>
                <a:spcPts val="400"/>
              </a:spcAft>
            </a:pPr>
            <a:r>
              <a:rPr sz="1200" b="1" i="0">
                <a:solidFill>
                  <a:srgbClr val="FFFFFF"/>
                </a:solidFill>
                <a:latin typeface="Calibri"/>
              </a:rPr>
              <a:t>We persist every read, not just watchlist hits</a:t>
            </a:r>
          </a:p>
          <a:p>
            <a:pPr algn="l">
              <a:spcAft>
                <a:spcPts val="300"/>
              </a:spcAft>
            </a:pPr>
            <a:r>
              <a:rPr sz="980" b="0" i="0">
                <a:solidFill>
                  <a:srgbClr val="C2CED8"/>
                </a:solidFill>
                <a:latin typeface="Calibri"/>
              </a:rPr>
              <a:t>This moves the system's cost from the query path to the write path. Every sizing decision in this deck follows from it.</a:t>
            </a:r>
          </a:p>
        </p:txBody>
      </p:sp>
      <p:sp>
        <p:nvSpPr>
          <p:cNvPr id="11" name="Rectangle 10"/>
          <p:cNvSpPr/>
          <p:nvPr/>
        </p:nvSpPr>
        <p:spPr>
          <a:xfrm>
            <a:off x="713232" y="6054979"/>
            <a:ext cx="10911535" cy="9525"/>
          </a:xfrm>
          <a:prstGeom prst="rect">
            <a:avLst/>
          </a:prstGeom>
          <a:solidFill>
            <a:srgbClr val="2C3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6146419"/>
            <a:ext cx="10911535" cy="274320"/>
          </a:xfrm>
          <a:prstGeom prst="rect">
            <a:avLst/>
          </a:prstGeom>
          <a:noFill/>
        </p:spPr>
        <p:txBody>
          <a:bodyPr wrap="square" lIns="0" rIns="0" tIns="0" bIns="0">
            <a:spAutoFit/>
          </a:bodyPr>
          <a:lstStyle/>
          <a:p>
            <a:r>
              <a:rPr sz="850" b="1" i="0">
                <a:solidFill>
                  <a:srgbClr val="8A9BA8"/>
                </a:solidFill>
                <a:latin typeface="Consolas"/>
              </a:rPr>
              <a:t>The distinction that matters:</a:t>
            </a:r>
            <a:r>
              <a:rPr sz="850" b="0" i="0">
                <a:solidFill>
                  <a:srgbClr val="8A9BA8"/>
                </a:solidFill>
                <a:latin typeface="Consolas"/>
              </a:rPr>
              <a:t> a watchlist alerter answers questions asked in advance. An index answers a question nobody had asked yet, which is exactly what the evaluation 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7A8A99"/>
                </a:solidFill>
                <a:latin typeface="Consolas"/>
              </a:rPr>
              <a:t>ELEMENT 1 OF 8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7A8A99"/>
                </a:solidFill>
                <a:latin typeface="Consolas"/>
              </a:rPr>
              <a:t>03</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7A8A99"/>
                </a:solidFill>
                <a:latin typeface="Consolas"/>
              </a:rPr>
              <a:t>PROPOSED MODEL, WITH JUSTIFICATION</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0E1721"/>
                </a:solidFill>
                <a:latin typeface="Calibri"/>
              </a:rPr>
              <a:t>Hybrid: a registry control plane, direct feed access, an adapter spine</a:t>
            </a:r>
          </a:p>
        </p:txBody>
      </p:sp>
      <p:sp>
        <p:nvSpPr>
          <p:cNvPr id="7" name="Rectangle 6"/>
          <p:cNvSpPr/>
          <p:nvPr/>
        </p:nvSpPr>
        <p:spPr>
          <a:xfrm>
            <a:off x="713232" y="1285875"/>
            <a:ext cx="841248" cy="34925"/>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2512009"/>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749753"/>
            <a:ext cx="10911535" cy="274320"/>
          </a:xfrm>
          <a:prstGeom prst="rect">
            <a:avLst/>
          </a:prstGeom>
          <a:noFill/>
        </p:spPr>
        <p:txBody>
          <a:bodyPr wrap="square" lIns="0" rIns="0" tIns="0" bIns="0">
            <a:spAutoFit/>
          </a:bodyPr>
          <a:lstStyle/>
          <a:p>
            <a:r>
              <a:rPr sz="1300" b="0" i="0">
                <a:solidFill>
                  <a:srgbClr val="47586A"/>
                </a:solidFill>
                <a:latin typeface="Calibri"/>
              </a:rPr>
              <a:t>We adopt </a:t>
            </a:r>
            <a:r>
              <a:rPr sz="1300" b="1" i="0">
                <a:solidFill>
                  <a:srgbClr val="47586A"/>
                </a:solidFill>
                <a:latin typeface="Calibri"/>
              </a:rPr>
              <a:t>Model 4's analytics outcomes</a:t>
            </a:r>
            <a:r>
              <a:rPr sz="1300" b="0" i="0">
                <a:solidFill>
                  <a:srgbClr val="47586A"/>
                </a:solidFill>
                <a:latin typeface="Calibri"/>
              </a:rPr>
              <a:t> through distributed edge inference rather than centralised video ingest.</a:t>
            </a:r>
          </a:p>
        </p:txBody>
      </p:sp>
      <p:graphicFrame>
        <p:nvGraphicFramePr>
          <p:cNvPr id="10" name="Table 9"/>
          <p:cNvGraphicFramePr>
            <a:graphicFrameLocks noGrp="1"/>
          </p:cNvGraphicFramePr>
          <p:nvPr/>
        </p:nvGraphicFramePr>
        <p:xfrm>
          <a:off x="713232" y="3153867"/>
          <a:ext cx="10911533" cy="1371600"/>
        </p:xfrm>
        <a:graphic>
          <a:graphicData uri="http://schemas.openxmlformats.org/drawingml/2006/table">
            <a:tbl>
              <a:tblPr>
                <a:tableStyleId>{5C22544A-7EE6-4342-B048-85BDC9FD1C3A}</a:tableStyleId>
              </a:tblPr>
              <a:tblGrid>
                <a:gridCol w="1735308"/>
                <a:gridCol w="5414657"/>
                <a:gridCol w="3761568"/>
              </a:tblGrid>
              <a:tr h="274320">
                <a:tc>
                  <a:txBody>
                    <a:bodyPr wrap="square"/>
                    <a:lstStyle/>
                    <a:p>
                      <a:r>
                        <a:rPr sz="800" b="1" i="0">
                          <a:solidFill>
                            <a:srgbClr val="7A8A99"/>
                          </a:solidFill>
                          <a:latin typeface="Consolas"/>
                        </a:rPr>
                        <a:t>MODEL</a:t>
                      </a:r>
                    </a:p>
                  </a:txBody>
                  <a:tcPr marL="64008" marR="64008" marT="41148" marB="41148" anchor="t">
                    <a:solidFill>
                      <a:srgbClr val="FFFFFF"/>
                    </a:solidFill>
                    <a:lnL w="0">
                      <a:noFill/>
                    </a:lnL>
                    <a:lnR w="0">
                      <a:noFill/>
                    </a:lnR>
                    <a:lnT w="0">
                      <a:noFill/>
                    </a:lnT>
                    <a:lnB w="12700" cap="flat" cmpd="sng" algn="ctr">
                      <a:solidFill>
                        <a:srgbClr val="12508F"/>
                      </a:solidFill>
                    </a:lnB>
                  </a:tcPr>
                </a:tc>
                <a:tc>
                  <a:txBody>
                    <a:bodyPr wrap="square"/>
                    <a:lstStyle/>
                    <a:p>
                      <a:r>
                        <a:rPr sz="800" b="1" i="0">
                          <a:solidFill>
                            <a:srgbClr val="7A8A99"/>
                          </a:solidFill>
                          <a:latin typeface="Consolas"/>
                        </a:rPr>
                        <a:t>ROLE IN THE HYBRID</a:t>
                      </a:r>
                    </a:p>
                  </a:txBody>
                  <a:tcPr marL="64008" marR="64008" marT="41148" marB="41148" anchor="t">
                    <a:solidFill>
                      <a:srgbClr val="FFFFFF"/>
                    </a:solidFill>
                    <a:lnL w="0">
                      <a:noFill/>
                    </a:lnL>
                    <a:lnR w="0">
                      <a:noFill/>
                    </a:lnR>
                    <a:lnT w="0">
                      <a:noFill/>
                    </a:lnT>
                    <a:lnB w="12700" cap="flat" cmpd="sng" algn="ctr">
                      <a:solidFill>
                        <a:srgbClr val="12508F"/>
                      </a:solidFill>
                    </a:lnB>
                  </a:tcPr>
                </a:tc>
                <a:tc>
                  <a:txBody>
                    <a:bodyPr wrap="square"/>
                    <a:lstStyle/>
                    <a:p>
                      <a:r>
                        <a:rPr sz="800" b="1" i="0">
                          <a:solidFill>
                            <a:srgbClr val="7A8A99"/>
                          </a:solidFill>
                          <a:latin typeface="Consolas"/>
                        </a:rPr>
                        <a:t>DEMONSTRATED BY</a:t>
                      </a:r>
                    </a:p>
                  </a:txBody>
                  <a:tcPr marL="64008" marR="64008" marT="41148" marB="41148" anchor="t">
                    <a:solidFill>
                      <a:srgbClr val="FFFFFF"/>
                    </a:solidFill>
                    <a:lnL w="0">
                      <a:noFill/>
                    </a:lnL>
                    <a:lnR w="0">
                      <a:noFill/>
                    </a:lnR>
                    <a:lnT w="0">
                      <a:noFill/>
                    </a:lnT>
                    <a:lnB w="12700" cap="flat" cmpd="sng" algn="ctr">
                      <a:solidFill>
                        <a:srgbClr val="12508F"/>
                      </a:solidFill>
                    </a:lnB>
                  </a:tcPr>
                </a:tc>
              </a:tr>
              <a:tr h="274320">
                <a:tc>
                  <a:txBody>
                    <a:bodyPr wrap="square"/>
                    <a:lstStyle/>
                    <a:p>
                      <a:r>
                        <a:rPr sz="900" b="1" i="0">
                          <a:solidFill>
                            <a:srgbClr val="47586A"/>
                          </a:solidFill>
                          <a:latin typeface="Calibri"/>
                        </a:rPr>
                        <a:t>M1: Registry &amp; GIS</a:t>
                      </a:r>
                      <a:br/>
                      <a:r>
                        <a:rPr sz="900" b="0" i="0">
                          <a:solidFill>
                            <a:srgbClr val="47586A"/>
                          </a:solidFill>
                          <a:latin typeface="Calibri"/>
                        </a:rPr>
                        <a:t>mandatory</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1" i="0">
                          <a:solidFill>
                            <a:srgbClr val="47586A"/>
                          </a:solidFill>
                          <a:latin typeface="Calibri"/>
                        </a:rPr>
                        <a:t>The control plane, not a side deliverable.</a:t>
                      </a:r>
                      <a:r>
                        <a:rPr sz="900" b="0" i="0">
                          <a:solidFill>
                            <a:srgbClr val="47586A"/>
                          </a:solidFill>
                          <a:latin typeface="Calibri"/>
                        </a:rPr>
                        <a:t> Adapter choice, RBAC scope, health, coverage and route plausibility all resolve through it</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80 cameras onboarded (50 simulated, 30 government); GIS map; corridor gap analysis</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M2: Unified viewing</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The feed-access and operator layer. Direct RTSP/ONVIF is genuinely right for cameras with no VMS in front of them, which is most of them</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Live view, searchable sightings, alert console</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M3: Federation</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The spine that makes M2 survive scale. A new vendor is a plugin, not a redesign</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One interface; adding a source type changes no other file</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M4: Analytics outcomes</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Its </a:t>
                      </a:r>
                      <a:r>
                        <a:rPr sz="900" b="1" i="0">
                          <a:solidFill>
                            <a:srgbClr val="47586A"/>
                          </a:solidFill>
                          <a:latin typeface="Calibri"/>
                        </a:rPr>
                        <a:t>goals</a:t>
                      </a:r>
                      <a:r>
                        <a:rPr sz="900" b="0" i="0">
                          <a:solidFill>
                            <a:srgbClr val="47586A"/>
                          </a:solidFill>
                          <a:latin typeface="Calibri"/>
                        </a:rPr>
                        <a:t> adopted in full. Its </a:t>
                      </a:r>
                      <a:r>
                        <a:rPr sz="900" b="1" i="0">
                          <a:solidFill>
                            <a:srgbClr val="47586A"/>
                          </a:solidFill>
                          <a:latin typeface="Calibri"/>
                        </a:rPr>
                        <a:t>centralised ingest</a:t>
                      </a:r>
                      <a:r>
                        <a:rPr sz="900" b="0" i="0">
                          <a:solidFill>
                            <a:srgbClr val="47586A"/>
                          </a:solidFill>
                          <a:latin typeface="Calibri"/>
                        </a:rPr>
                        <a:t> rejected on cost and on the Core Goal</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Journey reconstruction, watchlist correlation, real-time alerts</a:t>
                      </a:r>
                    </a:p>
                  </a:txBody>
                  <a:tcPr marL="64008" marR="64008" marT="41148" marB="41148" anchor="t">
                    <a:solidFill>
                      <a:srgbClr val="FFFFFF"/>
                    </a:solidFill>
                    <a:lnL w="0">
                      <a:noFill/>
                    </a:lnL>
                    <a:lnR w="0">
                      <a:noFill/>
                    </a:lnR>
                    <a:lnT w="0">
                      <a:noFill/>
                    </a:lnT>
                    <a:lnB w="6350" cap="flat" cmpd="sng" algn="ctr">
                      <a:solidFill>
                        <a:srgbClr val="DCE3E8"/>
                      </a:solidFill>
                    </a:lnB>
                  </a:tcPr>
                </a:tc>
              </a:tr>
            </a:tbl>
          </a:graphicData>
        </a:graphic>
      </p:graphicFrame>
      <p:sp>
        <p:nvSpPr>
          <p:cNvPr id="11" name="Rectangle 10"/>
          <p:cNvSpPr/>
          <p:nvPr/>
        </p:nvSpPr>
        <p:spPr>
          <a:xfrm>
            <a:off x="713232" y="6054979"/>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6146419"/>
            <a:ext cx="10911535" cy="274320"/>
          </a:xfrm>
          <a:prstGeom prst="rect">
            <a:avLst/>
          </a:prstGeom>
          <a:noFill/>
        </p:spPr>
        <p:txBody>
          <a:bodyPr wrap="square" lIns="0" rIns="0" tIns="0" bIns="0">
            <a:spAutoFit/>
          </a:bodyPr>
          <a:lstStyle/>
          <a:p>
            <a:r>
              <a:rPr sz="850" b="1" i="0">
                <a:solidFill>
                  <a:srgbClr val="7A8A99"/>
                </a:solidFill>
                <a:latin typeface="Consolas"/>
              </a:rPr>
              <a:t>The organising idea:</a:t>
            </a:r>
            <a:r>
              <a:rPr sz="850" b="0" i="0">
                <a:solidFill>
                  <a:srgbClr val="7A8A99"/>
                </a:solidFill>
                <a:latin typeface="Consolas"/>
              </a:rPr>
              <a:t> move the analytics to the edge, move only metadata to the centre, move video only on demand.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7A8A99"/>
                </a:solidFill>
                <a:latin typeface="Consolas"/>
              </a:rPr>
              <a:t>ELEMENT 1 OF 8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7A8A99"/>
                </a:solidFill>
                <a:latin typeface="Consolas"/>
              </a:rPr>
              <a:t>04</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7A8A99"/>
                </a:solidFill>
                <a:latin typeface="Consolas"/>
              </a:rPr>
              <a:t>PROPOSED MODEL, WITH JUSTIFICATION</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0E1721"/>
                </a:solidFill>
                <a:latin typeface="Calibri"/>
              </a:rPr>
              <a:t>Why we rejected Model 4, and the arithmetic at 80,000 cameras</a:t>
            </a:r>
          </a:p>
        </p:txBody>
      </p:sp>
      <p:sp>
        <p:nvSpPr>
          <p:cNvPr id="7" name="Rectangle 6"/>
          <p:cNvSpPr/>
          <p:nvPr/>
        </p:nvSpPr>
        <p:spPr>
          <a:xfrm>
            <a:off x="713232" y="1285875"/>
            <a:ext cx="841248" cy="34925"/>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713232" y="2052432"/>
          <a:ext cx="5336893" cy="1371600"/>
        </p:xfrm>
        <a:graphic>
          <a:graphicData uri="http://schemas.openxmlformats.org/drawingml/2006/table">
            <a:tbl>
              <a:tblPr>
                <a:tableStyleId>{5C22544A-7EE6-4342-B048-85BDC9FD1C3A}</a:tableStyleId>
              </a:tblPr>
              <a:tblGrid>
                <a:gridCol w="2255504"/>
                <a:gridCol w="1214131"/>
                <a:gridCol w="1867258"/>
              </a:tblGrid>
              <a:tr h="274320">
                <a:tc>
                  <a:txBody>
                    <a:bodyPr wrap="square"/>
                    <a:lstStyle/>
                    <a:p>
                      <a:r>
                        <a:rPr sz="800" b="1" i="0">
                          <a:solidFill>
                            <a:srgbClr val="7A8A99"/>
                          </a:solidFill>
                          <a:latin typeface="Consolas"/>
                        </a:rPr>
                        <a:t/>
                      </a:r>
                    </a:p>
                  </a:txBody>
                  <a:tcPr marL="64008" marR="64008" marT="41148" marB="41148" anchor="t">
                    <a:solidFill>
                      <a:srgbClr val="FFFFFF"/>
                    </a:solidFill>
                    <a:lnL w="0">
                      <a:noFill/>
                    </a:lnL>
                    <a:lnR w="0">
                      <a:noFill/>
                    </a:lnR>
                    <a:lnT w="0">
                      <a:noFill/>
                    </a:lnT>
                    <a:lnB w="12700" cap="flat" cmpd="sng" algn="ctr">
                      <a:solidFill>
                        <a:srgbClr val="12508F"/>
                      </a:solidFill>
                    </a:lnB>
                  </a:tcPr>
                </a:tc>
                <a:tc>
                  <a:txBody>
                    <a:bodyPr wrap="square"/>
                    <a:lstStyle/>
                    <a:p>
                      <a:pPr algn="r"/>
                      <a:r>
                        <a:rPr sz="800" b="1" i="0">
                          <a:solidFill>
                            <a:srgbClr val="7A8A99"/>
                          </a:solidFill>
                          <a:latin typeface="Consolas"/>
                        </a:rPr>
                        <a:t>CENTRAL VMS</a:t>
                      </a:r>
                    </a:p>
                  </a:txBody>
                  <a:tcPr marL="64008" marR="64008" marT="41148" marB="41148" anchor="t">
                    <a:solidFill>
                      <a:srgbClr val="FFFFFF"/>
                    </a:solidFill>
                    <a:lnL w="0">
                      <a:noFill/>
                    </a:lnL>
                    <a:lnR w="0">
                      <a:noFill/>
                    </a:lnR>
                    <a:lnT w="0">
                      <a:noFill/>
                    </a:lnT>
                    <a:lnB w="12700" cap="flat" cmpd="sng" algn="ctr">
                      <a:solidFill>
                        <a:srgbClr val="12508F"/>
                      </a:solidFill>
                    </a:lnB>
                  </a:tcPr>
                </a:tc>
                <a:tc>
                  <a:txBody>
                    <a:bodyPr wrap="square"/>
                    <a:lstStyle/>
                    <a:p>
                      <a:pPr algn="r"/>
                      <a:r>
                        <a:rPr sz="800" b="1" i="0">
                          <a:solidFill>
                            <a:srgbClr val="7A8A99"/>
                          </a:solidFill>
                          <a:latin typeface="Consolas"/>
                        </a:rPr>
                        <a:t>THIS PLATFORM</a:t>
                      </a:r>
                    </a:p>
                  </a:txBody>
                  <a:tcPr marL="64008" marR="64008" marT="41148" marB="41148" anchor="t">
                    <a:solidFill>
                      <a:srgbClr val="FFFFFF"/>
                    </a:solidFill>
                    <a:lnL w="0">
                      <a:noFill/>
                    </a:lnL>
                    <a:lnR w="0">
                      <a:noFill/>
                    </a:lnR>
                    <a:lnT w="0">
                      <a:noFill/>
                    </a:lnT>
                    <a:lnB w="12700" cap="flat" cmpd="sng" algn="ctr">
                      <a:solidFill>
                        <a:srgbClr val="12508F"/>
                      </a:solidFill>
                    </a:lnB>
                  </a:tcPr>
                </a:tc>
              </a:tr>
              <a:tr h="274320">
                <a:tc>
                  <a:txBody>
                    <a:bodyPr wrap="square"/>
                    <a:lstStyle/>
                    <a:p>
                      <a:r>
                        <a:rPr sz="900" b="1" i="0">
                          <a:solidFill>
                            <a:srgbClr val="47586A"/>
                          </a:solidFill>
                          <a:latin typeface="Calibri"/>
                        </a:rPr>
                        <a:t>Sustained backhaul</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0" i="0">
                          <a:solidFill>
                            <a:srgbClr val="B23A2F"/>
                          </a:solidFill>
                          <a:latin typeface="Calibri"/>
                        </a:rPr>
                        <a:t>240 Gbit/s</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0" i="0">
                          <a:solidFill>
                            <a:srgbClr val="1F7A52"/>
                          </a:solidFill>
                          <a:latin typeface="Calibri"/>
                        </a:rPr>
                        <a:t>~40 Mbit/s</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Central storage, 15 days</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0" i="0">
                          <a:solidFill>
                            <a:srgbClr val="B23A2F"/>
                          </a:solidFill>
                          <a:latin typeface="Calibri"/>
                        </a:rPr>
                        <a:t>~26 PB</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0" i="0">
                          <a:solidFill>
                            <a:srgbClr val="1F7A52"/>
                          </a:solidFill>
                          <a:latin typeface="Calibri"/>
                        </a:rPr>
                        <a:t>~5 GB/day</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Existing VMS, storage, AMC</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0" i="0">
                          <a:solidFill>
                            <a:srgbClr val="47586A"/>
                          </a:solidFill>
                          <a:latin typeface="Calibri"/>
                        </a:rPr>
                        <a:t>Replaced</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0" i="0">
                          <a:solidFill>
                            <a:srgbClr val="1F7A52"/>
                          </a:solidFill>
                          <a:latin typeface="Calibri"/>
                        </a:rPr>
                        <a:t>Preserved</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On WAN outage</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0" i="0">
                          <a:solidFill>
                            <a:srgbClr val="47586A"/>
                          </a:solidFill>
                          <a:latin typeface="Calibri"/>
                        </a:rPr>
                        <a:t>Blind</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0" i="0">
                          <a:solidFill>
                            <a:srgbClr val="47586A"/>
                          </a:solidFill>
                          <a:latin typeface="Calibri"/>
                        </a:rPr>
                        <a:t>Edge keeps detecting</a:t>
                      </a:r>
                    </a:p>
                  </a:txBody>
                  <a:tcPr marL="64008" marR="64008" marT="41148" marB="41148" anchor="t">
                    <a:solidFill>
                      <a:srgbClr val="FFFFFF"/>
                    </a:solidFill>
                    <a:lnL w="0">
                      <a:noFill/>
                    </a:lnL>
                    <a:lnR w="0">
                      <a:noFill/>
                    </a:lnR>
                    <a:lnT w="0">
                      <a:noFill/>
                    </a:lnT>
                    <a:lnB w="6350" cap="flat" cmpd="sng" algn="ctr">
                      <a:solidFill>
                        <a:srgbClr val="DCE3E8"/>
                      </a:solidFill>
                    </a:lnB>
                  </a:tcPr>
                </a:tc>
              </a:tr>
            </a:tbl>
          </a:graphicData>
        </a:graphic>
      </p:graphicFrame>
      <p:sp>
        <p:nvSpPr>
          <p:cNvPr id="9" name="TextBox 8"/>
          <p:cNvSpPr txBox="1"/>
          <p:nvPr/>
        </p:nvSpPr>
        <p:spPr>
          <a:xfrm>
            <a:off x="713232" y="3469752"/>
            <a:ext cx="5336895" cy="274320"/>
          </a:xfrm>
          <a:prstGeom prst="rect">
            <a:avLst/>
          </a:prstGeom>
          <a:noFill/>
        </p:spPr>
        <p:txBody>
          <a:bodyPr wrap="square" lIns="0" rIns="0" tIns="0" bIns="0">
            <a:spAutoFit/>
          </a:bodyPr>
          <a:lstStyle/>
          <a:p>
            <a:r>
              <a:rPr sz="850" b="1" i="0">
                <a:solidFill>
                  <a:srgbClr val="7A8A99"/>
                </a:solidFill>
                <a:latin typeface="Consolas"/>
              </a:rPr>
              <a:t>0.5 kbit/s per camera</a:t>
            </a:r>
            <a:r>
              <a:rPr sz="850" b="0" i="0">
                <a:solidFill>
                  <a:srgbClr val="7A8A99"/>
                </a:solidFill>
                <a:latin typeface="Consolas"/>
              </a:rPr>
              <a:t> is measured, not assumed, 104 sightings/minute across 71 contributing cameras, at ~300 bytes a row.</a:t>
            </a:r>
          </a:p>
        </p:txBody>
      </p:sp>
      <p:sp>
        <p:nvSpPr>
          <p:cNvPr id="10" name="Rectangle 9"/>
          <p:cNvSpPr/>
          <p:nvPr/>
        </p:nvSpPr>
        <p:spPr>
          <a:xfrm>
            <a:off x="6287871" y="2052432"/>
            <a:ext cx="5336895" cy="1390345"/>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750" b="1" i="0" spc="60">
                <a:solidFill>
                  <a:srgbClr val="B08800"/>
                </a:solidFill>
                <a:latin typeface="Consolas"/>
              </a:rPr>
              <a:t>REASON ONE</a:t>
            </a:r>
          </a:p>
          <a:p>
            <a:pPr algn="l">
              <a:spcAft>
                <a:spcPts val="400"/>
              </a:spcAft>
            </a:pPr>
            <a:r>
              <a:rPr sz="1200" b="1" i="0">
                <a:solidFill>
                  <a:srgbClr val="0E1721"/>
                </a:solidFill>
                <a:latin typeface="Calibri"/>
              </a:rPr>
              <a:t>It contradicts the Core Goal</a:t>
            </a:r>
          </a:p>
          <a:p>
            <a:pPr algn="l">
              <a:spcAft>
                <a:spcPts val="300"/>
              </a:spcAft>
            </a:pPr>
            <a:r>
              <a:rPr sz="980" b="0" i="0">
                <a:solidFill>
                  <a:srgbClr val="47586A"/>
                </a:solidFill>
                <a:latin typeface="Calibri"/>
              </a:rPr>
              <a:t>The brief asks for an approach that is </a:t>
            </a:r>
            <a:r>
              <a:rPr sz="980" b="0" i="0">
                <a:solidFill>
                  <a:srgbClr val="47586A"/>
                </a:solidFill>
                <a:latin typeface="Calibri"/>
              </a:rPr>
              <a:t>cost-effective</a:t>
            </a:r>
            <a:r>
              <a:rPr sz="980" b="0" i="0">
                <a:solidFill>
                  <a:srgbClr val="47586A"/>
                </a:solidFill>
                <a:latin typeface="Calibri"/>
              </a:rPr>
              <a:t> and </a:t>
            </a:r>
            <a:r>
              <a:rPr sz="980" b="0" i="0">
                <a:solidFill>
                  <a:srgbClr val="47586A"/>
                </a:solidFill>
                <a:latin typeface="Calibri"/>
              </a:rPr>
              <a:t>uses existing infrastructure to the maximum practical extent</a:t>
            </a:r>
            <a:r>
              <a:rPr sz="980" b="0" i="0">
                <a:solidFill>
                  <a:srgbClr val="47586A"/>
                </a:solidFill>
                <a:latin typeface="Calibri"/>
              </a:rPr>
              <a:t>. Model 4 discards 26 departments' investments and rebuilds them centrally.</a:t>
            </a:r>
          </a:p>
        </p:txBody>
      </p:sp>
      <p:sp>
        <p:nvSpPr>
          <p:cNvPr id="11" name="Rectangle 10"/>
          <p:cNvSpPr/>
          <p:nvPr/>
        </p:nvSpPr>
        <p:spPr>
          <a:xfrm>
            <a:off x="6287871" y="3616513"/>
            <a:ext cx="5336895" cy="1223568"/>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750" b="1" i="0" spc="60">
                <a:solidFill>
                  <a:srgbClr val="B08800"/>
                </a:solidFill>
                <a:latin typeface="Consolas"/>
              </a:rPr>
              <a:t>REASON TWO</a:t>
            </a:r>
          </a:p>
          <a:p>
            <a:pPr algn="l">
              <a:spcAft>
                <a:spcPts val="400"/>
              </a:spcAft>
            </a:pPr>
            <a:r>
              <a:rPr sz="1200" b="1" i="0">
                <a:solidFill>
                  <a:srgbClr val="0E1721"/>
                </a:solidFill>
                <a:latin typeface="Calibri"/>
              </a:rPr>
              <a:t>It contradicts the bonus criteria</a:t>
            </a:r>
          </a:p>
          <a:p>
            <a:pPr algn="l">
              <a:spcAft>
                <a:spcPts val="300"/>
              </a:spcAft>
            </a:pPr>
            <a:r>
              <a:rPr sz="980" b="0" i="0">
                <a:solidFill>
                  <a:srgbClr val="47586A"/>
                </a:solidFill>
                <a:latin typeface="Calibri"/>
              </a:rPr>
              <a:t>Which explicitly reward </a:t>
            </a:r>
            <a:r>
              <a:rPr sz="980" b="0" i="0">
                <a:solidFill>
                  <a:srgbClr val="47586A"/>
                </a:solidFill>
                <a:latin typeface="Calibri"/>
              </a:rPr>
              <a:t>strong edge-processing, bandwidth-optimisation, or low-connectivity operation</a:t>
            </a:r>
            <a:r>
              <a:rPr sz="980" b="0" i="0">
                <a:solidFill>
                  <a:srgbClr val="47586A"/>
                </a:solidFill>
                <a:latin typeface="Calibri"/>
              </a:rPr>
              <a:t>. Central ingest is the opposite of all three.</a:t>
            </a:r>
          </a:p>
        </p:txBody>
      </p:sp>
      <p:sp>
        <p:nvSpPr>
          <p:cNvPr id="12" name="Rectangle 11"/>
          <p:cNvSpPr/>
          <p:nvPr/>
        </p:nvSpPr>
        <p:spPr>
          <a:xfrm>
            <a:off x="713232" y="6054979"/>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6146419"/>
            <a:ext cx="10911535" cy="274320"/>
          </a:xfrm>
          <a:prstGeom prst="rect">
            <a:avLst/>
          </a:prstGeom>
          <a:noFill/>
        </p:spPr>
        <p:txBody>
          <a:bodyPr wrap="square" lIns="0" rIns="0" tIns="0" bIns="0">
            <a:spAutoFit/>
          </a:bodyPr>
          <a:lstStyle/>
          <a:p>
            <a:r>
              <a:rPr sz="850" b="1" i="0">
                <a:solidFill>
                  <a:srgbClr val="7A8A99"/>
                </a:solidFill>
                <a:latin typeface="Consolas"/>
              </a:rPr>
              <a:t>We decline one implementation choice, not a capability.</a:t>
            </a:r>
            <a:r>
              <a:rPr sz="850" b="0" i="0">
                <a:solidFill>
                  <a:srgbClr val="7A8A99"/>
                </a:solidFill>
                <a:latin typeface="Consolas"/>
              </a:rPr>
              <a:t> Every functional outcome Model 4 lists is present. The transport is what differs.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7A8A99"/>
                </a:solidFill>
                <a:latin typeface="Consolas"/>
              </a:rPr>
              <a:t>ELEMENT 2 OF 8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7A8A99"/>
                </a:solidFill>
                <a:latin typeface="Consolas"/>
              </a:rPr>
              <a:t>05</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7A8A99"/>
                </a:solidFill>
                <a:latin typeface="Consolas"/>
              </a:rPr>
              <a:t>SOLUTION OVERVIEW AND OBJECTIVES</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0E1721"/>
                </a:solidFill>
                <a:latin typeface="Calibri"/>
              </a:rPr>
              <a:t>Three capabilities, graded separately, all built</a:t>
            </a:r>
          </a:p>
        </p:txBody>
      </p:sp>
      <p:sp>
        <p:nvSpPr>
          <p:cNvPr id="7" name="Rectangle 6"/>
          <p:cNvSpPr/>
          <p:nvPr/>
        </p:nvSpPr>
        <p:spPr>
          <a:xfrm>
            <a:off x="713232" y="1285875"/>
            <a:ext cx="841248" cy="34925"/>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2121752"/>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713232" y="2359496"/>
          <a:ext cx="10911533" cy="1097280"/>
        </p:xfrm>
        <a:graphic>
          <a:graphicData uri="http://schemas.openxmlformats.org/drawingml/2006/table">
            <a:tbl>
              <a:tblPr>
                <a:tableStyleId>{5C22544A-7EE6-4342-B048-85BDC9FD1C3A}</a:tableStyleId>
              </a:tblPr>
              <a:tblGrid>
                <a:gridCol w="1420610"/>
                <a:gridCol w="5583284"/>
                <a:gridCol w="3907639"/>
              </a:tblGrid>
              <a:tr h="274320">
                <a:tc>
                  <a:txBody>
                    <a:bodyPr wrap="square"/>
                    <a:lstStyle/>
                    <a:p>
                      <a:r>
                        <a:rPr sz="800" b="1" i="0">
                          <a:solidFill>
                            <a:srgbClr val="7A8A99"/>
                          </a:solidFill>
                          <a:latin typeface="Consolas"/>
                        </a:rPr>
                        <a:t>OBJECTIVE</a:t>
                      </a:r>
                    </a:p>
                  </a:txBody>
                  <a:tcPr marL="64008" marR="64008" marT="41148" marB="41148" anchor="t">
                    <a:solidFill>
                      <a:srgbClr val="FFFFFF"/>
                    </a:solidFill>
                    <a:lnL w="0">
                      <a:noFill/>
                    </a:lnL>
                    <a:lnR w="0">
                      <a:noFill/>
                    </a:lnR>
                    <a:lnT w="0">
                      <a:noFill/>
                    </a:lnT>
                    <a:lnB w="12700" cap="flat" cmpd="sng" algn="ctr">
                      <a:solidFill>
                        <a:srgbClr val="12508F"/>
                      </a:solidFill>
                    </a:lnB>
                  </a:tcPr>
                </a:tc>
                <a:tc>
                  <a:txBody>
                    <a:bodyPr wrap="square"/>
                    <a:lstStyle/>
                    <a:p>
                      <a:r>
                        <a:rPr sz="800" b="1" i="0">
                          <a:solidFill>
                            <a:srgbClr val="7A8A99"/>
                          </a:solidFill>
                          <a:latin typeface="Consolas"/>
                        </a:rPr>
                        <a:t>WHAT IT MEANS</a:t>
                      </a:r>
                    </a:p>
                  </a:txBody>
                  <a:tcPr marL="64008" marR="64008" marT="41148" marB="41148" anchor="t">
                    <a:solidFill>
                      <a:srgbClr val="FFFFFF"/>
                    </a:solidFill>
                    <a:lnL w="0">
                      <a:noFill/>
                    </a:lnL>
                    <a:lnR w="0">
                      <a:noFill/>
                    </a:lnR>
                    <a:lnT w="0">
                      <a:noFill/>
                    </a:lnT>
                    <a:lnB w="12700" cap="flat" cmpd="sng" algn="ctr">
                      <a:solidFill>
                        <a:srgbClr val="12508F"/>
                      </a:solidFill>
                    </a:lnB>
                  </a:tcPr>
                </a:tc>
                <a:tc>
                  <a:txBody>
                    <a:bodyPr wrap="square"/>
                    <a:lstStyle/>
                    <a:p>
                      <a:r>
                        <a:rPr sz="800" b="1" i="0">
                          <a:solidFill>
                            <a:srgbClr val="7A8A99"/>
                          </a:solidFill>
                          <a:latin typeface="Consolas"/>
                        </a:rPr>
                        <a:t>STATE</a:t>
                      </a:r>
                    </a:p>
                  </a:txBody>
                  <a:tcPr marL="64008" marR="64008" marT="41148" marB="41148" anchor="t">
                    <a:solidFill>
                      <a:srgbClr val="FFFFFF"/>
                    </a:solidFill>
                    <a:lnL w="0">
                      <a:noFill/>
                    </a:lnL>
                    <a:lnR w="0">
                      <a:noFill/>
                    </a:lnR>
                    <a:lnT w="0">
                      <a:noFill/>
                    </a:lnT>
                    <a:lnB w="12700" cap="flat" cmpd="sng" algn="ctr">
                      <a:solidFill>
                        <a:srgbClr val="12508F"/>
                      </a:solidFill>
                    </a:lnB>
                  </a:tcPr>
                </a:tc>
              </a:tr>
              <a:tr h="274320">
                <a:tc>
                  <a:txBody>
                    <a:bodyPr wrap="square"/>
                    <a:lstStyle/>
                    <a:p>
                      <a:r>
                        <a:rPr sz="900" b="1" i="0">
                          <a:solidFill>
                            <a:srgbClr val="47586A"/>
                          </a:solidFill>
                          <a:latin typeface="Calibri"/>
                        </a:rPr>
                        <a:t>Onboard</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Any camera, any brand, any protocol, without redesign</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80 cameras. </a:t>
                      </a:r>
                      <a:r>
                        <a:rPr sz="900" b="0" i="0">
                          <a:solidFill>
                            <a:srgbClr val="1F7A52"/>
                          </a:solidFill>
                          <a:latin typeface="Calibri"/>
                        </a:rPr>
                        <a:t>5.1 s</a:t>
                      </a:r>
                      <a:r>
                        <a:rPr sz="900" b="0" i="0">
                          <a:solidFill>
                            <a:srgbClr val="47586A"/>
                          </a:solidFill>
                          <a:latin typeface="Calibri"/>
                        </a:rPr>
                        <a:t> each, against a 30 s budget</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Read</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Continuously read plates from every camera and store </a:t>
                      </a:r>
                      <a:r>
                        <a:rPr sz="900" b="1" i="0">
                          <a:solidFill>
                            <a:srgbClr val="47586A"/>
                          </a:solidFill>
                          <a:latin typeface="Calibri"/>
                        </a:rPr>
                        <a:t>all</a:t>
                      </a:r>
                      <a:r>
                        <a:rPr sz="900" b="0" i="0">
                          <a:solidFill>
                            <a:srgbClr val="47586A"/>
                          </a:solidFill>
                          <a:latin typeface="Calibri"/>
                        </a:rPr>
                        <a:t> of them</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1F7A52"/>
                          </a:solidFill>
                          <a:latin typeface="Calibri"/>
                        </a:rPr>
                        <a:t>82.4%</a:t>
                      </a:r>
                      <a:r>
                        <a:rPr sz="900" b="0" i="0">
                          <a:solidFill>
                            <a:srgbClr val="47586A"/>
                          </a:solidFill>
                          <a:latin typeface="Calibri"/>
                        </a:rPr>
                        <a:t> exact on ANPR-grade cameras · </a:t>
                      </a:r>
                      <a:r>
                        <a:rPr sz="900" b="1" i="0">
                          <a:solidFill>
                            <a:srgbClr val="47586A"/>
                          </a:solidFill>
                          <a:latin typeface="Calibri"/>
                        </a:rPr>
                        <a:t>104</a:t>
                      </a:r>
                      <a:r>
                        <a:rPr sz="900" b="0" i="0">
                          <a:solidFill>
                            <a:srgbClr val="47586A"/>
                          </a:solidFill>
                          <a:latin typeface="Calibri"/>
                        </a:rPr>
                        <a:t> sightings/min</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Trace &amp; alert</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A plate returns a route across the state; a wanted vehicle raises an alert in real time</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1F7A52"/>
                          </a:solidFill>
                          <a:latin typeface="Calibri"/>
                        </a:rPr>
                        <a:t>26 ms</a:t>
                      </a:r>
                      <a:r>
                        <a:rPr sz="900" b="0" i="0">
                          <a:solidFill>
                            <a:srgbClr val="47586A"/>
                          </a:solidFill>
                          <a:latin typeface="Calibri"/>
                        </a:rPr>
                        <a:t> trace · </a:t>
                      </a:r>
                      <a:r>
                        <a:rPr sz="900" b="0" i="0">
                          <a:solidFill>
                            <a:srgbClr val="1F7A52"/>
                          </a:solidFill>
                          <a:latin typeface="Calibri"/>
                        </a:rPr>
                        <a:t>1.04 s</a:t>
                      </a:r>
                      <a:r>
                        <a:rPr sz="900" b="0" i="0">
                          <a:solidFill>
                            <a:srgbClr val="47586A"/>
                          </a:solidFill>
                          <a:latin typeface="Calibri"/>
                        </a:rPr>
                        <a:t> detection→alert</a:t>
                      </a:r>
                    </a:p>
                  </a:txBody>
                  <a:tcPr marL="64008" marR="64008" marT="41148" marB="41148" anchor="t">
                    <a:solidFill>
                      <a:srgbClr val="FFFFFF"/>
                    </a:solidFill>
                    <a:lnL w="0">
                      <a:noFill/>
                    </a:lnL>
                    <a:lnR w="0">
                      <a:noFill/>
                    </a:lnR>
                    <a:lnT w="0">
                      <a:noFill/>
                    </a:lnT>
                    <a:lnB w="6350" cap="flat" cmpd="sng" algn="ctr">
                      <a:solidFill>
                        <a:srgbClr val="DCE3E8"/>
                      </a:solidFill>
                    </a:lnB>
                  </a:tcPr>
                </a:tc>
              </a:tr>
            </a:tbl>
          </a:graphicData>
        </a:graphic>
      </p:graphicFrame>
      <p:sp>
        <p:nvSpPr>
          <p:cNvPr id="10" name="Rectangle 9"/>
          <p:cNvSpPr/>
          <p:nvPr/>
        </p:nvSpPr>
        <p:spPr>
          <a:xfrm>
            <a:off x="713232" y="354821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3785960"/>
            <a:ext cx="10911535" cy="274320"/>
          </a:xfrm>
          <a:prstGeom prst="rect">
            <a:avLst/>
          </a:prstGeom>
          <a:noFill/>
        </p:spPr>
        <p:txBody>
          <a:bodyPr wrap="square" lIns="0" rIns="0" tIns="0" bIns="0">
            <a:spAutoFit/>
          </a:bodyPr>
          <a:lstStyle/>
          <a:p>
            <a:r>
              <a:rPr sz="850" b="0" i="0" spc="90">
                <a:solidFill>
                  <a:srgbClr val="7A8A99"/>
                </a:solidFill>
                <a:latin typeface="Consolas"/>
              </a:rPr>
              <a:t>ALSO BUILT, AND ALSO GRADED</a:t>
            </a:r>
          </a:p>
        </p:txBody>
      </p:sp>
      <p:sp>
        <p:nvSpPr>
          <p:cNvPr id="12" name="Rectangle 11"/>
          <p:cNvSpPr/>
          <p:nvPr/>
        </p:nvSpPr>
        <p:spPr>
          <a:xfrm>
            <a:off x="713232" y="4113493"/>
            <a:ext cx="3478682" cy="1022400"/>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1200" b="1" i="0">
                <a:solidFill>
                  <a:srgbClr val="0E1721"/>
                </a:solidFill>
                <a:latin typeface="Calibri"/>
              </a:rPr>
              <a:t>Evidence export</a:t>
            </a:r>
          </a:p>
          <a:p>
            <a:pPr algn="l">
              <a:spcAft>
                <a:spcPts val="300"/>
              </a:spcAft>
            </a:pPr>
            <a:r>
              <a:rPr sz="980" b="0" i="0">
                <a:solidFill>
                  <a:srgbClr val="47586A"/>
                </a:solidFill>
                <a:latin typeface="Calibri"/>
              </a:rPr>
              <a:t>CSV and PDF carrying plate, confidence, camera, geolocation, timestamp </a:t>
            </a:r>
            <a:r>
              <a:rPr sz="980" b="1" i="0">
                <a:solidFill>
                  <a:srgbClr val="47586A"/>
                </a:solidFill>
                <a:latin typeface="Calibri"/>
              </a:rPr>
              <a:t>and the crop that proves the read</a:t>
            </a:r>
            <a:r>
              <a:rPr sz="980" b="0" i="0">
                <a:solidFill>
                  <a:srgbClr val="47586A"/>
                </a:solidFill>
                <a:latin typeface="Calibri"/>
              </a:rPr>
              <a:t>.</a:t>
            </a:r>
          </a:p>
        </p:txBody>
      </p:sp>
      <p:sp>
        <p:nvSpPr>
          <p:cNvPr id="13" name="Rectangle 12"/>
          <p:cNvSpPr/>
          <p:nvPr/>
        </p:nvSpPr>
        <p:spPr>
          <a:xfrm>
            <a:off x="4429658" y="4113493"/>
            <a:ext cx="3478682" cy="1022400"/>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1200" b="1" i="0">
                <a:solidFill>
                  <a:srgbClr val="0E1721"/>
                </a:solidFill>
                <a:latin typeface="Calibri"/>
              </a:rPr>
              <a:t>Coverage &amp; gap analysis</a:t>
            </a:r>
          </a:p>
          <a:p>
            <a:pPr algn="l">
              <a:spcAft>
                <a:spcPts val="300"/>
              </a:spcAft>
            </a:pPr>
            <a:r>
              <a:rPr sz="980" b="0" i="0">
                <a:solidFill>
                  <a:srgbClr val="47586A"/>
                </a:solidFill>
                <a:latin typeface="Calibri"/>
              </a:rPr>
              <a:t>Which road segments no camera watches, the input to where the next cameras go.</a:t>
            </a:r>
          </a:p>
        </p:txBody>
      </p:sp>
      <p:sp>
        <p:nvSpPr>
          <p:cNvPr id="14" name="Rectangle 13"/>
          <p:cNvSpPr/>
          <p:nvPr/>
        </p:nvSpPr>
        <p:spPr>
          <a:xfrm>
            <a:off x="8146084" y="4113493"/>
            <a:ext cx="3478682" cy="1022400"/>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1200" b="1" i="0">
                <a:solidFill>
                  <a:srgbClr val="0E1721"/>
                </a:solidFill>
                <a:latin typeface="Calibri"/>
              </a:rPr>
              <a:t>Audit &amp; access control</a:t>
            </a:r>
          </a:p>
          <a:p>
            <a:pPr algn="l">
              <a:spcAft>
                <a:spcPts val="300"/>
              </a:spcAft>
            </a:pPr>
            <a:r>
              <a:rPr sz="980" b="0" i="0">
                <a:solidFill>
                  <a:srgbClr val="47586A"/>
                </a:solidFill>
                <a:latin typeface="Calibri"/>
              </a:rPr>
              <a:t>Role- and department-scoped access, with an immutable record of every search and export.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7A8A99"/>
                </a:solidFill>
                <a:latin typeface="Consolas"/>
              </a:rPr>
              <a:t>ELEMENT 2 OF 8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7A8A99"/>
                </a:solidFill>
                <a:latin typeface="Consolas"/>
              </a:rPr>
              <a:t>06</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7A8A99"/>
                </a:solidFill>
                <a:latin typeface="Consolas"/>
              </a:rPr>
              <a:t>KEY INNOVATIONS</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0E1721"/>
                </a:solidFill>
                <a:latin typeface="Calibri"/>
              </a:rPr>
              <a:t>Five, each backed by a measurement rather than a claim</a:t>
            </a:r>
          </a:p>
        </p:txBody>
      </p:sp>
      <p:sp>
        <p:nvSpPr>
          <p:cNvPr id="7" name="Rectangle 6"/>
          <p:cNvSpPr/>
          <p:nvPr/>
        </p:nvSpPr>
        <p:spPr>
          <a:xfrm>
            <a:off x="713232" y="1285875"/>
            <a:ext cx="841248" cy="34925"/>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713232" y="2666375"/>
          <a:ext cx="10911533" cy="1645920"/>
        </p:xfrm>
        <a:graphic>
          <a:graphicData uri="http://schemas.openxmlformats.org/drawingml/2006/table">
            <a:tbl>
              <a:tblPr>
                <a:tableStyleId>{5C22544A-7EE6-4342-B048-85BDC9FD1C3A}</a:tableStyleId>
              </a:tblPr>
              <a:tblGrid>
                <a:gridCol w="643784"/>
                <a:gridCol w="5443613"/>
                <a:gridCol w="4824136"/>
              </a:tblGrid>
              <a:tr h="274320">
                <a:tc>
                  <a:txBody>
                    <a:bodyPr wrap="square"/>
                    <a:lstStyle/>
                    <a:p>
                      <a:r>
                        <a:rPr sz="800" b="1" i="0">
                          <a:solidFill>
                            <a:srgbClr val="7A8A99"/>
                          </a:solidFill>
                          <a:latin typeface="Consolas"/>
                        </a:rPr>
                        <a:t/>
                      </a:r>
                    </a:p>
                  </a:txBody>
                  <a:tcPr marL="64008" marR="64008" marT="41148" marB="41148" anchor="t">
                    <a:solidFill>
                      <a:srgbClr val="FFFFFF"/>
                    </a:solidFill>
                    <a:lnL w="0">
                      <a:noFill/>
                    </a:lnL>
                    <a:lnR w="0">
                      <a:noFill/>
                    </a:lnR>
                    <a:lnT w="0">
                      <a:noFill/>
                    </a:lnT>
                    <a:lnB w="12700" cap="flat" cmpd="sng" algn="ctr">
                      <a:solidFill>
                        <a:srgbClr val="12508F"/>
                      </a:solidFill>
                    </a:lnB>
                  </a:tcPr>
                </a:tc>
                <a:tc>
                  <a:txBody>
                    <a:bodyPr wrap="square"/>
                    <a:lstStyle/>
                    <a:p>
                      <a:r>
                        <a:rPr sz="800" b="1" i="0">
                          <a:solidFill>
                            <a:srgbClr val="7A8A99"/>
                          </a:solidFill>
                          <a:latin typeface="Consolas"/>
                        </a:rPr>
                        <a:t>INNOVATION</a:t>
                      </a:r>
                    </a:p>
                  </a:txBody>
                  <a:tcPr marL="64008" marR="64008" marT="41148" marB="41148" anchor="t">
                    <a:solidFill>
                      <a:srgbClr val="FFFFFF"/>
                    </a:solidFill>
                    <a:lnL w="0">
                      <a:noFill/>
                    </a:lnL>
                    <a:lnR w="0">
                      <a:noFill/>
                    </a:lnR>
                    <a:lnT w="0">
                      <a:noFill/>
                    </a:lnT>
                    <a:lnB w="12700" cap="flat" cmpd="sng" algn="ctr">
                      <a:solidFill>
                        <a:srgbClr val="12508F"/>
                      </a:solidFill>
                    </a:lnB>
                  </a:tcPr>
                </a:tc>
                <a:tc>
                  <a:txBody>
                    <a:bodyPr wrap="square"/>
                    <a:lstStyle/>
                    <a:p>
                      <a:r>
                        <a:rPr sz="800" b="1" i="0">
                          <a:solidFill>
                            <a:srgbClr val="7A8A99"/>
                          </a:solidFill>
                          <a:latin typeface="Consolas"/>
                        </a:rPr>
                        <a:t>THE MEASUREMENT BEHIND IT</a:t>
                      </a:r>
                    </a:p>
                  </a:txBody>
                  <a:tcPr marL="64008" marR="64008" marT="41148" marB="41148" anchor="t">
                    <a:solidFill>
                      <a:srgbClr val="FFFFFF"/>
                    </a:solidFill>
                    <a:lnL w="0">
                      <a:noFill/>
                    </a:lnL>
                    <a:lnR w="0">
                      <a:noFill/>
                    </a:lnR>
                    <a:lnT w="0">
                      <a:noFill/>
                    </a:lnT>
                    <a:lnB w="12700" cap="flat" cmpd="sng" algn="ctr">
                      <a:solidFill>
                        <a:srgbClr val="12508F"/>
                      </a:solidFill>
                    </a:lnB>
                  </a:tcPr>
                </a:tc>
              </a:tr>
              <a:tr h="274320">
                <a:tc>
                  <a:txBody>
                    <a:bodyPr wrap="square"/>
                    <a:lstStyle/>
                    <a:p>
                      <a:r>
                        <a:rPr sz="900" b="0" i="0">
                          <a:solidFill>
                            <a:srgbClr val="47586A"/>
                          </a:solidFill>
                          <a:latin typeface="Calibri"/>
                        </a:rPr>
                        <a:t>1</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1" i="0">
                          <a:solidFill>
                            <a:srgbClr val="47586A"/>
                          </a:solidFill>
                          <a:latin typeface="Calibri"/>
                        </a:rPr>
                        <a:t>Edge-first metadata architecture</a:t>
                      </a:r>
                      <a:r>
                        <a:rPr sz="900" b="0" i="0">
                          <a:solidFill>
                            <a:srgbClr val="47586A"/>
                          </a:solidFill>
                          <a:latin typeface="Calibri"/>
                        </a:rPr>
                        <a:t>, analytics beside the camera, ~250-byte events northbound</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1" i="0">
                          <a:solidFill>
                            <a:srgbClr val="47586A"/>
                          </a:solidFill>
                          <a:latin typeface="Calibri"/>
                        </a:rPr>
                        <a:t>0.5 kbit/s</a:t>
                      </a:r>
                      <a:r>
                        <a:rPr sz="900" b="0" i="0">
                          <a:solidFill>
                            <a:srgbClr val="47586A"/>
                          </a:solidFill>
                          <a:latin typeface="Calibri"/>
                        </a:rPr>
                        <a:t> per camera against ~3 Mbit/s of video, </a:t>
                      </a:r>
                      <a:r>
                        <a:rPr sz="900" b="1" i="0">
                          <a:solidFill>
                            <a:srgbClr val="47586A"/>
                          </a:solidFill>
                          <a:latin typeface="Calibri"/>
                        </a:rPr>
                        <a:t>four orders of magnitude</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0" i="0">
                          <a:solidFill>
                            <a:srgbClr val="47586A"/>
                          </a:solidFill>
                          <a:latin typeface="Calibri"/>
                        </a:rPr>
                        <a:t>2</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1" i="0">
                          <a:solidFill>
                            <a:srgbClr val="47586A"/>
                          </a:solidFill>
                          <a:latin typeface="Calibri"/>
                        </a:rPr>
                        <a:t>Registry as control plane</a:t>
                      </a:r>
                      <a:r>
                        <a:rPr sz="900" b="0" i="0">
                          <a:solidFill>
                            <a:srgbClr val="47586A"/>
                          </a:solidFill>
                          <a:latin typeface="Calibri"/>
                        </a:rPr>
                        <a:t>, not inventory, adapters, RBAC, health, geography and route plausibility all resolve through it</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The organisers' grid changed hostname mid-build. It cost </a:t>
                      </a:r>
                      <a:r>
                        <a:rPr sz="900" b="1" i="0">
                          <a:solidFill>
                            <a:srgbClr val="47586A"/>
                          </a:solidFill>
                          <a:latin typeface="Calibri"/>
                        </a:rPr>
                        <a:t>one environment variable</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0" i="0">
                          <a:solidFill>
                            <a:srgbClr val="47586A"/>
                          </a:solidFill>
                          <a:latin typeface="Calibri"/>
                        </a:rPr>
                        <a:t>3</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1" i="0">
                          <a:solidFill>
                            <a:srgbClr val="47586A"/>
                          </a:solidFill>
                          <a:latin typeface="Calibri"/>
                        </a:rPr>
                        <a:t>Per-track confidence voting + derived confusable-character normalisation</a:t>
                      </a:r>
                      <a:r>
                        <a:rPr sz="900" b="0" i="0">
                          <a:solidFill>
                            <a:srgbClr val="47586A"/>
                          </a:solidFill>
                          <a:latin typeface="Calibri"/>
                        </a:rPr>
                        <a:t>, the confusion table is generated, never typed in</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Coercion is </a:t>
                      </a:r>
                      <a:r>
                        <a:rPr sz="900" b="1" i="0">
                          <a:solidFill>
                            <a:srgbClr val="47586A"/>
                          </a:solidFill>
                          <a:latin typeface="Calibri"/>
                        </a:rPr>
                        <a:t>positional</a:t>
                      </a:r>
                      <a:r>
                        <a:rPr sz="900" b="0" i="0">
                          <a:solidFill>
                            <a:srgbClr val="47586A"/>
                          </a:solidFill>
                          <a:latin typeface="Calibri"/>
                        </a:rPr>
                        <a:t>; a hand-written table cannot distinguish a considered omission from an oversight</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0" i="0">
                          <a:solidFill>
                            <a:srgbClr val="47586A"/>
                          </a:solidFill>
                          <a:latin typeface="Calibri"/>
                        </a:rPr>
                        <a:t>4</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1" i="0">
                          <a:solidFill>
                            <a:srgbClr val="47586A"/>
                          </a:solidFill>
                          <a:latin typeface="Calibri"/>
                        </a:rPr>
                        <a:t>Travel-time plausibility scoring</a:t>
                      </a:r>
                      <a:r>
                        <a:rPr sz="900" b="0" i="0">
                          <a:solidFill>
                            <a:srgbClr val="47586A"/>
                          </a:solidFill>
                          <a:latin typeface="Calibri"/>
                        </a:rPr>
                        <a:t>, an impossible hop splits the journey instead of being dropped</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1" i="0">
                          <a:solidFill>
                            <a:srgbClr val="47586A"/>
                          </a:solidFill>
                          <a:latin typeface="Calibri"/>
                        </a:rPr>
                        <a:t>Cloned-plate detection as a by-product</a:t>
                      </a:r>
                      <a:r>
                        <a:rPr sz="900" b="0" i="0">
                          <a:solidFill>
                            <a:srgbClr val="47586A"/>
                          </a:solidFill>
                          <a:latin typeface="Calibri"/>
                        </a:rPr>
                        <a:t> of route reconstruction</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0" i="0">
                          <a:solidFill>
                            <a:srgbClr val="47586A"/>
                          </a:solidFill>
                          <a:latin typeface="Calibri"/>
                        </a:rPr>
                        <a:t>5</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1" i="0">
                          <a:solidFill>
                            <a:srgbClr val="47586A"/>
                          </a:solidFill>
                          <a:latin typeface="Calibri"/>
                        </a:rPr>
                        <a:t>Self-calibrating tamper detection</a:t>
                      </a:r>
                      <a:r>
                        <a:rPr sz="900" b="0" i="0">
                          <a:solidFill>
                            <a:srgbClr val="47586A"/>
                          </a:solidFill>
                          <a:latin typeface="Calibri"/>
                        </a:rPr>
                        <a:t>, each camera judged against its own normal, not a global threshold</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False positives </a:t>
                      </a:r>
                      <a:r>
                        <a:rPr sz="900" b="0" i="0">
                          <a:solidFill>
                            <a:srgbClr val="B23A2F"/>
                          </a:solidFill>
                          <a:latin typeface="Calibri"/>
                        </a:rPr>
                        <a:t>39</a:t>
                      </a:r>
                      <a:r>
                        <a:rPr sz="900" b="0" i="0">
                          <a:solidFill>
                            <a:srgbClr val="47586A"/>
                          </a:solidFill>
                          <a:latin typeface="Calibri"/>
                        </a:rPr>
                        <a:t> → </a:t>
                      </a:r>
                      <a:r>
                        <a:rPr sz="900" b="0" i="0">
                          <a:solidFill>
                            <a:srgbClr val="1F7A52"/>
                          </a:solidFill>
                          <a:latin typeface="Calibri"/>
                        </a:rPr>
                        <a:t>0</a:t>
                      </a:r>
                    </a:p>
                  </a:txBody>
                  <a:tcPr marL="64008" marR="64008" marT="41148" marB="41148" anchor="t">
                    <a:solidFill>
                      <a:srgbClr val="FFFFFF"/>
                    </a:solidFill>
                    <a:lnL w="0">
                      <a:noFill/>
                    </a:lnL>
                    <a:lnR w="0">
                      <a:noFill/>
                    </a:lnR>
                    <a:lnT w="0">
                      <a:noFill/>
                    </a:lnT>
                    <a:lnB w="6350" cap="flat" cmpd="sng" algn="ctr">
                      <a:solidFill>
                        <a:srgbClr val="DCE3E8"/>
                      </a:solidFill>
                    </a:lnB>
                  </a:tcPr>
                </a:tc>
              </a:tr>
            </a:tbl>
          </a:graphicData>
        </a:graphic>
      </p:graphicFrame>
      <p:sp>
        <p:nvSpPr>
          <p:cNvPr id="9" name="Rectangle 8"/>
          <p:cNvSpPr/>
          <p:nvPr/>
        </p:nvSpPr>
        <p:spPr>
          <a:xfrm>
            <a:off x="713232" y="6054979"/>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6146419"/>
            <a:ext cx="10911535" cy="274320"/>
          </a:xfrm>
          <a:prstGeom prst="rect">
            <a:avLst/>
          </a:prstGeom>
          <a:noFill/>
        </p:spPr>
        <p:txBody>
          <a:bodyPr wrap="square" lIns="0" rIns="0" tIns="0" bIns="0">
            <a:spAutoFit/>
          </a:bodyPr>
          <a:lstStyle/>
          <a:p>
            <a:r>
              <a:rPr sz="850" b="1" i="0">
                <a:solidFill>
                  <a:srgbClr val="7A8A99"/>
                </a:solidFill>
                <a:latin typeface="Consolas"/>
              </a:rPr>
              <a:t>Innovations 3 and 4 share a principle: the anomaly is the signal.</a:t>
            </a:r>
            <a:r>
              <a:rPr sz="850" b="0" i="0">
                <a:solidFill>
                  <a:srgbClr val="7A8A99"/>
                </a:solidFill>
                <a:latin typeface="Consolas"/>
              </a:rPr>
              <a:t> A system that quietly discards the outlier discards the crime.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7A8A99"/>
                </a:solidFill>
                <a:latin typeface="Consolas"/>
              </a:rPr>
              <a:t>ELEMENT 3 OF 8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7A8A99"/>
                </a:solidFill>
                <a:latin typeface="Consolas"/>
              </a:rPr>
              <a:t>07</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7A8A99"/>
                </a:solidFill>
                <a:latin typeface="Consolas"/>
              </a:rPr>
              <a:t>HIGH-LEVEL ARCHITECTURE</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0E1721"/>
                </a:solidFill>
                <a:latin typeface="Calibri"/>
              </a:rPr>
              <a:t>Six layers, and one of them is mandatory by design</a:t>
            </a:r>
          </a:p>
        </p:txBody>
      </p:sp>
      <p:sp>
        <p:nvSpPr>
          <p:cNvPr id="7" name="Rectangle 6"/>
          <p:cNvSpPr/>
          <p:nvPr/>
        </p:nvSpPr>
        <p:spPr>
          <a:xfrm>
            <a:off x="713232" y="1285875"/>
            <a:ext cx="841248" cy="34925"/>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2197677"/>
            <a:ext cx="5336895" cy="2212848"/>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wrap="none" tIns="64008" bIns="64008"/>
          <a:lstStyle/>
          <a:p>
            <a:pPr algn="l">
              <a:spcAft>
                <a:spcPts val="0"/>
              </a:spcAft>
            </a:pPr>
            <a:r>
              <a:rPr sz="700" b="0" i="0">
                <a:solidFill>
                  <a:srgbClr val="47586A"/>
                </a:solidFill>
                <a:latin typeface="Consolas"/>
              </a:rPr>
              <a:t>  L5  PRESENTATION  GIS console · Alert desk ·</a:t>
            </a:r>
          </a:p>
          <a:p>
            <a:pPr algn="l">
              <a:spcAft>
                <a:spcPts val="0"/>
              </a:spcAft>
            </a:pPr>
            <a:r>
              <a:rPr sz="700" b="0" i="0">
                <a:solidFill>
                  <a:srgbClr val="47586A"/>
                </a:solidFill>
                <a:latin typeface="Consolas"/>
              </a:rPr>
              <a:t>                     Journey explorer · Registry</a:t>
            </a:r>
          </a:p>
          <a:p>
            <a:pPr algn="l">
              <a:spcAft>
                <a:spcPts val="0"/>
              </a:spcAft>
            </a:pPr>
            <a:r>
              <a:rPr sz="700" b="0" i="0">
                <a:solidFill>
                  <a:srgbClr val="47586A"/>
                </a:solidFill>
                <a:latin typeface="Consolas"/>
              </a:rPr>
              <a:t>  L4  INTELLIGENCE  Watchlist matcher ·</a:t>
            </a:r>
          </a:p>
          <a:p>
            <a:pPr algn="l">
              <a:spcAft>
                <a:spcPts val="0"/>
              </a:spcAft>
            </a:pPr>
            <a:r>
              <a:rPr sz="700" b="0" i="0">
                <a:solidFill>
                  <a:srgbClr val="47586A"/>
                </a:solidFill>
                <a:latin typeface="Consolas"/>
              </a:rPr>
              <a:t>                     Journey · Re-ID · Reports</a:t>
            </a:r>
          </a:p>
          <a:p>
            <a:pPr algn="l">
              <a:spcAft>
                <a:spcPts val="0"/>
              </a:spcAft>
            </a:pPr>
            <a:r>
              <a:rPr sz="700" b="0" i="0">
                <a:solidFill>
                  <a:srgbClr val="47586A"/>
                </a:solidFill>
                <a:latin typeface="Consolas"/>
              </a:rPr>
              <a:t>  L3  PLATFORM CORE Event store ·</a:t>
            </a:r>
          </a:p>
          <a:p>
            <a:pPr algn="l">
              <a:spcAft>
                <a:spcPts val="0"/>
              </a:spcAft>
            </a:pPr>
            <a:r>
              <a:rPr sz="700" b="0" i="0">
                <a:solidFill>
                  <a:srgbClr val="47586A"/>
                </a:solidFill>
                <a:latin typeface="Consolas"/>
              </a:rPr>
              <a:t>            ★ CAMERA REGISTRY &amp; GIS ·</a:t>
            </a:r>
          </a:p>
          <a:p>
            <a:pPr algn="l">
              <a:spcAft>
                <a:spcPts val="0"/>
              </a:spcAft>
            </a:pPr>
            <a:r>
              <a:rPr sz="700" b="0" i="0">
                <a:solidFill>
                  <a:srgbClr val="47586A"/>
                </a:solidFill>
                <a:latin typeface="Consolas"/>
              </a:rPr>
              <a:t>                     RBAC · Audit · Stream broker</a:t>
            </a:r>
          </a:p>
          <a:p>
            <a:pPr algn="l">
              <a:spcAft>
                <a:spcPts val="0"/>
              </a:spcAft>
            </a:pPr>
            <a:r>
              <a:rPr sz="700" b="0" i="0">
                <a:solidFill>
                  <a:srgbClr val="47586A"/>
                </a:solidFill>
                <a:latin typeface="Consolas"/>
              </a:rPr>
              <a:t>  L2  FEDERATION    Adapter framework ·</a:t>
            </a:r>
          </a:p>
          <a:p>
            <a:pPr algn="l">
              <a:spcAft>
                <a:spcPts val="0"/>
              </a:spcAft>
            </a:pPr>
            <a:r>
              <a:rPr sz="700" b="0" i="0">
                <a:solidFill>
                  <a:srgbClr val="47586A"/>
                </a:solidFill>
                <a:latin typeface="Consolas"/>
              </a:rPr>
              <a:t>                     Credentials · Health prober</a:t>
            </a:r>
          </a:p>
          <a:p>
            <a:pPr algn="l">
              <a:spcAft>
                <a:spcPts val="0"/>
              </a:spcAft>
            </a:pPr>
            <a:r>
              <a:rPr sz="700" b="0" i="0">
                <a:solidFill>
                  <a:srgbClr val="47586A"/>
                </a:solidFill>
                <a:latin typeface="Consolas"/>
              </a:rPr>
              <a:t>  L1  EDGE ANALYTICS Decode · Sample · Detect ·</a:t>
            </a:r>
          </a:p>
          <a:p>
            <a:pPr algn="l">
              <a:spcAft>
                <a:spcPts val="0"/>
              </a:spcAft>
            </a:pPr>
            <a:r>
              <a:rPr sz="700" b="0" i="0">
                <a:solidFill>
                  <a:srgbClr val="47586A"/>
                </a:solidFill>
                <a:latin typeface="Consolas"/>
              </a:rPr>
              <a:t>                     Track · OCR · Vote · Tamper</a:t>
            </a:r>
          </a:p>
          <a:p>
            <a:pPr algn="l">
              <a:spcAft>
                <a:spcPts val="0"/>
              </a:spcAft>
            </a:pPr>
            <a:r>
              <a:rPr sz="700" b="0" i="0">
                <a:solidFill>
                  <a:srgbClr val="47586A"/>
                </a:solidFill>
                <a:latin typeface="Consolas"/>
              </a:rPr>
              <a:t>  L0  SOURCES       IP cams · Encoders ·</a:t>
            </a:r>
          </a:p>
          <a:p>
            <a:pPr algn="l">
              <a:spcAft>
                <a:spcPts val="0"/>
              </a:spcAft>
            </a:pPr>
            <a:r>
              <a:rPr sz="700" b="0" i="0">
                <a:solidFill>
                  <a:srgbClr val="47586A"/>
                </a:solidFill>
                <a:latin typeface="Consolas"/>
              </a:rPr>
              <a:t>                     NVRs · Departmental VMS</a:t>
            </a:r>
          </a:p>
          <a:p>
            <a:pPr algn="l">
              <a:spcAft>
                <a:spcPts val="0"/>
              </a:spcAft>
            </a:pPr>
            <a:r>
              <a:rPr sz="700" b="0" i="0">
                <a:solidFill>
                  <a:srgbClr val="47586A"/>
                </a:solidFill>
                <a:latin typeface="Consolas"/>
              </a:rPr>
              <a:t>  ★ mandatory Model 1, as the control plane</a:t>
            </a:r>
          </a:p>
        </p:txBody>
      </p:sp>
      <p:sp>
        <p:nvSpPr>
          <p:cNvPr id="9" name="Rectangle 8"/>
          <p:cNvSpPr/>
          <p:nvPr/>
        </p:nvSpPr>
        <p:spPr>
          <a:xfrm>
            <a:off x="6287871" y="2197677"/>
            <a:ext cx="5336895" cy="1390345"/>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750" b="1" i="0" spc="60">
                <a:solidFill>
                  <a:srgbClr val="B08800"/>
                </a:solidFill>
                <a:latin typeface="Consolas"/>
              </a:rPr>
              <a:t>WHAT CROSSES THE DISTRICT → STATE LINK</a:t>
            </a:r>
          </a:p>
          <a:p>
            <a:pPr algn="l">
              <a:spcAft>
                <a:spcPts val="400"/>
              </a:spcAft>
            </a:pPr>
            <a:r>
              <a:rPr sz="1200" b="1" i="0">
                <a:solidFill>
                  <a:srgbClr val="0E1721"/>
                </a:solidFill>
                <a:latin typeface="Calibri"/>
              </a:rPr>
              <a:t>Metadata always. Video only on demand.</a:t>
            </a:r>
          </a:p>
          <a:p>
            <a:pPr algn="l">
              <a:spcAft>
                <a:spcPts val="300"/>
              </a:spcAft>
            </a:pPr>
            <a:r>
              <a:rPr sz="980" b="0" i="0">
                <a:solidFill>
                  <a:srgbClr val="47586A"/>
                </a:solidFill>
                <a:latin typeface="Calibri"/>
              </a:rPr>
              <a:t>A relay starts when an operator opens a camera and is reaped 45 seconds after the last viewer. That cost is </a:t>
            </a:r>
            <a:r>
              <a:rPr sz="980" b="1" i="0">
                <a:solidFill>
                  <a:srgbClr val="47586A"/>
                </a:solidFill>
                <a:latin typeface="Calibri"/>
              </a:rPr>
              <a:t>per viewer, not per camera</a:t>
            </a:r>
            <a:r>
              <a:rPr sz="980" b="0" i="0">
                <a:solidFill>
                  <a:srgbClr val="47586A"/>
                </a:solidFill>
                <a:latin typeface="Calibri"/>
              </a:rPr>
              <a:t>, an unwatched camera costs nothing beyond its metadata.</a:t>
            </a:r>
          </a:p>
        </p:txBody>
      </p:sp>
      <p:sp>
        <p:nvSpPr>
          <p:cNvPr id="10" name="Rectangle 9"/>
          <p:cNvSpPr/>
          <p:nvPr/>
        </p:nvSpPr>
        <p:spPr>
          <a:xfrm>
            <a:off x="6287871" y="3761758"/>
            <a:ext cx="5336895" cy="1223568"/>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750" b="1" i="0" spc="60">
                <a:solidFill>
                  <a:srgbClr val="B08800"/>
                </a:solidFill>
                <a:latin typeface="Consolas"/>
              </a:rPr>
              <a:t>DEPLOYMENT TIERS</a:t>
            </a:r>
          </a:p>
          <a:p>
            <a:pPr algn="l">
              <a:spcAft>
                <a:spcPts val="400"/>
              </a:spcAft>
            </a:pPr>
            <a:r>
              <a:rPr sz="1200" b="1" i="0">
                <a:solidFill>
                  <a:srgbClr val="0E1721"/>
                </a:solidFill>
                <a:latin typeface="Calibri"/>
              </a:rPr>
              <a:t>Edge → district → state</a:t>
            </a:r>
          </a:p>
          <a:p>
            <a:pPr algn="l">
              <a:spcAft>
                <a:spcPts val="300"/>
              </a:spcAft>
            </a:pPr>
            <a:r>
              <a:rPr sz="980" b="0" i="0">
                <a:solidFill>
                  <a:srgbClr val="47586A"/>
                </a:solidFill>
                <a:latin typeface="Calibri"/>
              </a:rPr>
              <a:t>One container image, identical in all three placements. Scaling is a replica count, not a redeployment.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7A8A99"/>
                </a:solidFill>
                <a:latin typeface="Consolas"/>
              </a:rPr>
              <a:t>ELEMENT 3 OF 8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7A8A99"/>
                </a:solidFill>
                <a:latin typeface="Consolas"/>
              </a:rPr>
              <a:t>08</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7A8A99"/>
                </a:solidFill>
                <a:latin typeface="Consolas"/>
              </a:rPr>
              <a:t>END-TO-END WORKFLOW</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0E1721"/>
                </a:solidFill>
                <a:latin typeface="Calibri"/>
              </a:rPr>
              <a:t>A vehicle passes a camera in Rajkot</a:t>
            </a:r>
          </a:p>
        </p:txBody>
      </p:sp>
      <p:sp>
        <p:nvSpPr>
          <p:cNvPr id="7" name="Rectangle 6"/>
          <p:cNvSpPr/>
          <p:nvPr/>
        </p:nvSpPr>
        <p:spPr>
          <a:xfrm>
            <a:off x="713232" y="1285875"/>
            <a:ext cx="841248" cy="34925"/>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85104"/>
            <a:ext cx="5336895" cy="3529584"/>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wrap="none" tIns="64008" bIns="64008"/>
          <a:lstStyle/>
          <a:p>
            <a:pPr algn="l">
              <a:spcAft>
                <a:spcPts val="0"/>
              </a:spcAft>
            </a:pPr>
            <a:r>
              <a:rPr sz="700" b="0" i="0">
                <a:solidFill>
                  <a:srgbClr val="47586A"/>
                </a:solidFill>
                <a:latin typeface="Consolas"/>
              </a:rPr>
              <a:t>① registry already knows the camera,</a:t>
            </a:r>
          </a:p>
          <a:p>
            <a:pPr algn="l">
              <a:spcAft>
                <a:spcPts val="0"/>
              </a:spcAft>
            </a:pPr>
            <a:r>
              <a:rPr sz="700" b="0" i="0">
                <a:solidFill>
                  <a:srgbClr val="47586A"/>
                </a:solidFill>
                <a:latin typeface="Consolas"/>
              </a:rPr>
              <a:t>   its position, and its adapter</a:t>
            </a:r>
          </a:p>
          <a:p>
            <a:pPr algn="l">
              <a:spcAft>
                <a:spcPts val="0"/>
              </a:spcAft>
            </a:pPr>
            <a:r>
              <a:rPr sz="700" b="0" i="0">
                <a:solidFill>
                  <a:srgbClr val="47586A"/>
                </a:solidFill>
                <a:latin typeface="Consolas"/>
              </a:rPr>
              <a:t/>
            </a:r>
          </a:p>
          <a:p>
            <a:pPr algn="l">
              <a:spcAft>
                <a:spcPts val="0"/>
              </a:spcAft>
            </a:pPr>
            <a:r>
              <a:rPr sz="700" b="0" i="0">
                <a:solidFill>
                  <a:srgbClr val="47586A"/>
                </a:solidFill>
                <a:latin typeface="Consolas"/>
              </a:rPr>
              <a:t>② stream opened - timing from the video's</a:t>
            </a:r>
          </a:p>
          <a:p>
            <a:pPr algn="l">
              <a:spcAft>
                <a:spcPts val="0"/>
              </a:spcAft>
            </a:pPr>
            <a:r>
              <a:rPr sz="700" b="0" i="0">
                <a:solidFill>
                  <a:srgbClr val="47586A"/>
                </a:solidFill>
                <a:latin typeface="Consolas"/>
              </a:rPr>
              <a:t>   own PTS, never from arrival</a:t>
            </a:r>
          </a:p>
          <a:p>
            <a:pPr algn="l">
              <a:spcAft>
                <a:spcPts val="0"/>
              </a:spcAft>
            </a:pPr>
            <a:r>
              <a:rPr sz="700" b="0" i="0">
                <a:solidFill>
                  <a:srgbClr val="47586A"/>
                </a:solidFill>
                <a:latin typeface="Consolas"/>
              </a:rPr>
              <a:t/>
            </a:r>
          </a:p>
          <a:p>
            <a:pPr algn="l">
              <a:spcAft>
                <a:spcPts val="0"/>
              </a:spcAft>
            </a:pPr>
            <a:r>
              <a:rPr sz="700" b="0" i="0">
                <a:solidFill>
                  <a:srgbClr val="47586A"/>
                </a:solidFill>
                <a:latin typeface="Consolas"/>
              </a:rPr>
              <a:t>③ vehicle detected and tracked; plate</a:t>
            </a:r>
          </a:p>
          <a:p>
            <a:pPr algn="l">
              <a:spcAft>
                <a:spcPts val="0"/>
              </a:spcAft>
            </a:pPr>
            <a:r>
              <a:rPr sz="700" b="0" i="0">
                <a:solidFill>
                  <a:srgbClr val="47586A"/>
                </a:solidFill>
                <a:latin typeface="Consolas"/>
              </a:rPr>
              <a:t>   located inside the vehicle box</a:t>
            </a:r>
          </a:p>
          <a:p>
            <a:pPr algn="l">
              <a:spcAft>
                <a:spcPts val="0"/>
              </a:spcAft>
            </a:pPr>
            <a:r>
              <a:rPr sz="700" b="0" i="0">
                <a:solidFill>
                  <a:srgbClr val="47586A"/>
                </a:solidFill>
                <a:latin typeface="Consolas"/>
              </a:rPr>
              <a:t/>
            </a:r>
          </a:p>
          <a:p>
            <a:pPr algn="l">
              <a:spcAft>
                <a:spcPts val="0"/>
              </a:spcAft>
            </a:pPr>
            <a:r>
              <a:rPr sz="700" b="0" i="0">
                <a:solidFill>
                  <a:srgbClr val="47586A"/>
                </a:solidFill>
                <a:latin typeface="Consolas"/>
              </a:rPr>
              <a:t>④ OCR on each sampled crop</a:t>
            </a:r>
          </a:p>
          <a:p>
            <a:pPr algn="l">
              <a:spcAft>
                <a:spcPts val="0"/>
              </a:spcAft>
            </a:pPr>
            <a:r>
              <a:rPr sz="700" b="0" i="0">
                <a:solidFill>
                  <a:srgbClr val="47586A"/>
                </a:solidFill>
                <a:latin typeface="Consolas"/>
              </a:rPr>
              <a:t>   → per-track vote → ONE plate string</a:t>
            </a:r>
          </a:p>
          <a:p>
            <a:pPr algn="l">
              <a:spcAft>
                <a:spcPts val="0"/>
              </a:spcAft>
            </a:pPr>
            <a:r>
              <a:rPr sz="700" b="0" i="0">
                <a:solidFill>
                  <a:srgbClr val="47586A"/>
                </a:solidFill>
                <a:latin typeface="Consolas"/>
              </a:rPr>
              <a:t/>
            </a:r>
          </a:p>
          <a:p>
            <a:pPr algn="l">
              <a:spcAft>
                <a:spcPts val="0"/>
              </a:spcAft>
            </a:pPr>
            <a:r>
              <a:rPr sz="700" b="0" i="0">
                <a:solidFill>
                  <a:srgbClr val="47586A"/>
                </a:solidFill>
                <a:latin typeface="Consolas"/>
              </a:rPr>
              <a:t>⑤ sighting written - always, every</a:t>
            </a:r>
          </a:p>
          <a:p>
            <a:pPr algn="l">
              <a:spcAft>
                <a:spcPts val="0"/>
              </a:spcAft>
            </a:pPr>
            <a:r>
              <a:rPr sz="700" b="0" i="0">
                <a:solidFill>
                  <a:srgbClr val="47586A"/>
                </a:solidFill>
                <a:latin typeface="Consolas"/>
              </a:rPr>
              <a:t>   vehicle, ~300 bytes</a:t>
            </a:r>
          </a:p>
          <a:p>
            <a:pPr algn="l">
              <a:spcAft>
                <a:spcPts val="0"/>
              </a:spcAft>
            </a:pPr>
            <a:r>
              <a:rPr sz="700" b="0" i="0">
                <a:solidFill>
                  <a:srgbClr val="47586A"/>
                </a:solidFill>
                <a:latin typeface="Consolas"/>
              </a:rPr>
              <a:t>      in the same transaction: matched</a:t>
            </a:r>
          </a:p>
          <a:p>
            <a:pPr algn="l">
              <a:spcAft>
                <a:spcPts val="0"/>
              </a:spcAft>
            </a:pPr>
            <a:r>
              <a:rPr sz="700" b="0" i="0">
                <a:solidFill>
                  <a:srgbClr val="47586A"/>
                </a:solidFill>
                <a:latin typeface="Consolas"/>
              </a:rPr>
              <a:t>      against the watchlist, alert written</a:t>
            </a:r>
          </a:p>
          <a:p>
            <a:pPr algn="l">
              <a:spcAft>
                <a:spcPts val="0"/>
              </a:spcAft>
            </a:pPr>
            <a:r>
              <a:rPr sz="700" b="0" i="0">
                <a:solidFill>
                  <a:srgbClr val="47586A"/>
                </a:solidFill>
                <a:latin typeface="Consolas"/>
              </a:rPr>
              <a:t>      if it hits. Both rows commit, or neither</a:t>
            </a:r>
          </a:p>
          <a:p>
            <a:pPr algn="l">
              <a:spcAft>
                <a:spcPts val="0"/>
              </a:spcAft>
            </a:pPr>
            <a:r>
              <a:rPr sz="700" b="0" i="0">
                <a:solidFill>
                  <a:srgbClr val="47586A"/>
                </a:solidFill>
                <a:latin typeface="Consolas"/>
              </a:rPr>
              <a:t/>
            </a:r>
          </a:p>
          <a:p>
            <a:pPr algn="l">
              <a:spcAft>
                <a:spcPts val="0"/>
              </a:spcAft>
            </a:pPr>
            <a:r>
              <a:rPr sz="700" b="0" i="0">
                <a:solidFill>
                  <a:srgbClr val="47586A"/>
                </a:solidFill>
                <a:latin typeface="Consolas"/>
              </a:rPr>
              <a:t>⑥ operator sees the alert with its</a:t>
            </a:r>
          </a:p>
          <a:p>
            <a:pPr algn="l">
              <a:spcAft>
                <a:spcPts val="0"/>
              </a:spcAft>
            </a:pPr>
            <a:r>
              <a:rPr sz="700" b="0" i="0">
                <a:solidFill>
                  <a:srgbClr val="47586A"/>
                </a:solidFill>
                <a:latin typeface="Consolas"/>
              </a:rPr>
              <a:t>   evidence bundle              1.04 s</a:t>
            </a:r>
          </a:p>
          <a:p>
            <a:pPr algn="l">
              <a:spcAft>
                <a:spcPts val="0"/>
              </a:spcAft>
            </a:pPr>
            <a:r>
              <a:rPr sz="700" b="0" i="0">
                <a:solidFill>
                  <a:srgbClr val="47586A"/>
                </a:solidFill>
                <a:latin typeface="Consolas"/>
              </a:rPr>
              <a:t/>
            </a:r>
          </a:p>
          <a:p>
            <a:pPr algn="l">
              <a:spcAft>
                <a:spcPts val="0"/>
              </a:spcAft>
            </a:pPr>
            <a:r>
              <a:rPr sz="700" b="0" i="0">
                <a:solidFill>
                  <a:srgbClr val="47586A"/>
                </a:solidFill>
                <a:latin typeface="Consolas"/>
              </a:rPr>
              <a:t>⑦ later - a plate is typed, and its route</a:t>
            </a:r>
          </a:p>
          <a:p>
            <a:pPr algn="l">
              <a:spcAft>
                <a:spcPts val="0"/>
              </a:spcAft>
            </a:pPr>
            <a:r>
              <a:rPr sz="700" b="0" i="0">
                <a:solidFill>
                  <a:srgbClr val="47586A"/>
                </a:solidFill>
                <a:latin typeface="Consolas"/>
              </a:rPr>
              <a:t>   across the state returns       26 ms</a:t>
            </a:r>
          </a:p>
        </p:txBody>
      </p:sp>
      <p:sp>
        <p:nvSpPr>
          <p:cNvPr id="9" name="Rectangle 8"/>
          <p:cNvSpPr/>
          <p:nvPr/>
        </p:nvSpPr>
        <p:spPr>
          <a:xfrm>
            <a:off x="6287871" y="1885104"/>
            <a:ext cx="31750" cy="588772"/>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4175" y="1885104"/>
            <a:ext cx="5190591" cy="588772"/>
          </a:xfrm>
          <a:prstGeom prst="rect">
            <a:avLst/>
          </a:prstGeom>
          <a:noFill/>
        </p:spPr>
        <p:txBody>
          <a:bodyPr wrap="square" lIns="0" rIns="0" tIns="0" bIns="0">
            <a:spAutoFit/>
          </a:bodyPr>
          <a:lstStyle/>
          <a:p>
            <a:pPr>
              <a:spcAft>
                <a:spcPts val="400"/>
              </a:spcAft>
            </a:pPr>
            <a:r>
              <a:rPr sz="1300" b="1" i="0">
                <a:solidFill>
                  <a:srgbClr val="0E1721"/>
                </a:solidFill>
                <a:latin typeface="Calibri"/>
              </a:rPr>
              <a:t>Steps ⑤ and ⑦ are the product.</a:t>
            </a:r>
            <a:r>
              <a:rPr sz="1300" b="0" i="0">
                <a:solidFill>
                  <a:srgbClr val="0E1721"/>
                </a:solidFill>
                <a:latin typeface="Calibri"/>
              </a:rPr>
              <a:t> ⑤ is what makes ⑦ possible on evaluation day.</a:t>
            </a:r>
          </a:p>
        </p:txBody>
      </p:sp>
      <p:sp>
        <p:nvSpPr>
          <p:cNvPr id="11" name="Rectangle 10"/>
          <p:cNvSpPr/>
          <p:nvPr/>
        </p:nvSpPr>
        <p:spPr>
          <a:xfrm>
            <a:off x="6287871" y="2629324"/>
            <a:ext cx="5336895" cy="1390345"/>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750" b="1" i="0" spc="60">
                <a:solidFill>
                  <a:srgbClr val="B08800"/>
                </a:solidFill>
                <a:latin typeface="Consolas"/>
              </a:rPr>
              <a:t>NOT OBVIOUS, AND LOAD-BEARING</a:t>
            </a:r>
          </a:p>
          <a:p>
            <a:pPr algn="l">
              <a:spcAft>
                <a:spcPts val="400"/>
              </a:spcAft>
            </a:pPr>
            <a:r>
              <a:rPr sz="1200" b="1" i="0">
                <a:solidFill>
                  <a:srgbClr val="0E1721"/>
                </a:solidFill>
                <a:latin typeface="Calibri"/>
              </a:rPr>
              <a:t>Plate search is confined to a vehicle</a:t>
            </a:r>
          </a:p>
          <a:p>
            <a:pPr algn="l">
              <a:spcAft>
                <a:spcPts val="300"/>
              </a:spcAft>
            </a:pPr>
            <a:r>
              <a:rPr sz="980" b="0" i="0">
                <a:solidFill>
                  <a:srgbClr val="47586A"/>
                </a:solidFill>
                <a:latin typeface="Calibri"/>
              </a:rPr>
              <a:t>Every government feed burns a timestamp band and site label onto its own picture, at plate size and contrast. Whole-frame recognition reads the camera's own clock as a registration number, on every camera, forever.</a:t>
            </a:r>
          </a:p>
        </p:txBody>
      </p:sp>
      <p:sp>
        <p:nvSpPr>
          <p:cNvPr id="12" name="Rectangle 11"/>
          <p:cNvSpPr/>
          <p:nvPr/>
        </p:nvSpPr>
        <p:spPr>
          <a:xfrm>
            <a:off x="6287871" y="4193405"/>
            <a:ext cx="5336895" cy="1223568"/>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750" b="1" i="0" spc="60">
                <a:solidFill>
                  <a:srgbClr val="B08800"/>
                </a:solidFill>
                <a:latin typeface="Consolas"/>
              </a:rPr>
              <a:t>NOT OBVIOUS, AND LOAD-BEARING</a:t>
            </a:r>
          </a:p>
          <a:p>
            <a:pPr algn="l">
              <a:spcAft>
                <a:spcPts val="400"/>
              </a:spcAft>
            </a:pPr>
            <a:r>
              <a:rPr sz="1200" b="1" i="0">
                <a:solidFill>
                  <a:srgbClr val="0E1721"/>
                </a:solidFill>
                <a:latin typeface="Calibri"/>
              </a:rPr>
              <a:t>Timing comes from the video</a:t>
            </a:r>
          </a:p>
          <a:p>
            <a:pPr algn="l">
              <a:spcAft>
                <a:spcPts val="300"/>
              </a:spcAft>
            </a:pPr>
            <a:r>
              <a:rPr sz="980" b="0" i="0">
                <a:solidFill>
                  <a:srgbClr val="47586A"/>
                </a:solidFill>
                <a:latin typeface="Calibri"/>
              </a:rPr>
              <a:t>A gateway replays its buffer on connect, so frames arrive faster than real time. Timed by arrival, </a:t>
            </a:r>
            <a:r>
              <a:rPr sz="980" b="1" i="0">
                <a:solidFill>
                  <a:srgbClr val="47586A"/>
                </a:solidFill>
                <a:latin typeface="Calibri"/>
              </a:rPr>
              <a:t>every reconnect computes an impossible speed and reports a cloned plate.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7A8A99"/>
                </a:solidFill>
                <a:latin typeface="Consolas"/>
              </a:rPr>
              <a:t>ELEMENT 3 OF 8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7A8A99"/>
                </a:solidFill>
                <a:latin typeface="Consolas"/>
              </a:rPr>
              <a:t>09</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7A8A99"/>
                </a:solidFill>
                <a:latin typeface="Consolas"/>
              </a:rPr>
              <a:t>END-TO-END WORKFLOW, AS BUILT</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0E1721"/>
                </a:solidFill>
                <a:latin typeface="Calibri"/>
              </a:rPr>
              <a:t>Three stages: integration, edge analytics, and two paths that never share code</a:t>
            </a:r>
          </a:p>
        </p:txBody>
      </p:sp>
      <p:sp>
        <p:nvSpPr>
          <p:cNvPr id="7" name="Rectangle 6"/>
          <p:cNvSpPr/>
          <p:nvPr/>
        </p:nvSpPr>
        <p:spPr>
          <a:xfrm>
            <a:off x="713232" y="1285875"/>
            <a:ext cx="841248" cy="34925"/>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ujarat-cctv-workflow.png"/>
          <p:cNvPicPr>
            <a:picLocks noChangeAspect="1"/>
          </p:cNvPicPr>
          <p:nvPr/>
        </p:nvPicPr>
        <p:blipFill>
          <a:blip r:embed="rId2"/>
          <a:stretch>
            <a:fillRect/>
          </a:stretch>
        </p:blipFill>
        <p:spPr>
          <a:xfrm>
            <a:off x="2718155" y="1523619"/>
            <a:ext cx="6901688" cy="4313555"/>
          </a:xfrm>
          <a:prstGeom prst="rect">
            <a:avLst/>
          </a:prstGeom>
        </p:spPr>
      </p:pic>
      <p:sp>
        <p:nvSpPr>
          <p:cNvPr id="9" name="Rectangle 8"/>
          <p:cNvSpPr/>
          <p:nvPr/>
        </p:nvSpPr>
        <p:spPr>
          <a:xfrm>
            <a:off x="713232" y="591032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6001766"/>
            <a:ext cx="10911535" cy="274320"/>
          </a:xfrm>
          <a:prstGeom prst="rect">
            <a:avLst/>
          </a:prstGeom>
          <a:noFill/>
        </p:spPr>
        <p:txBody>
          <a:bodyPr wrap="square" lIns="0" rIns="0" tIns="0" bIns="0">
            <a:spAutoFit/>
          </a:bodyPr>
          <a:lstStyle/>
          <a:p>
            <a:r>
              <a:rPr sz="850" b="1" i="0">
                <a:solidFill>
                  <a:srgbClr val="7A8A99"/>
                </a:solidFill>
                <a:latin typeface="Consolas"/>
              </a:rPr>
              <a:t>Read the bottom band first.</a:t>
            </a:r>
            <a:r>
              <a:rPr sz="850" b="0" i="0">
                <a:solidFill>
                  <a:srgbClr val="7A8A99"/>
                </a:solidFill>
                <a:latin typeface="Consolas"/>
              </a:rPr>
              <a:t> Live alerting runs on every write; the retrospective trace runs on an operator's query. They read the same </a:t>
            </a:r>
            <a:r>
              <a:rPr sz="850" b="0" i="0">
                <a:solidFill>
                  <a:srgbClr val="7A8A99"/>
                </a:solidFill>
                <a:latin typeface="Consolas"/>
              </a:rPr>
              <a:t>sightings</a:t>
            </a:r>
            <a:r>
              <a:rPr sz="850" b="0" i="0">
                <a:solidFill>
                  <a:srgbClr val="7A8A99"/>
                </a:solidFill>
                <a:latin typeface="Consolas"/>
              </a:rPr>
              <a:t> table and share no implementation, because the evaluation grades both and building one does not deliver the other.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7A8A99"/>
                </a:solidFill>
                <a:latin typeface="Consolas"/>
              </a:rPr>
              <a:t>ELEMENT 4 OF 8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7A8A99"/>
                </a:solidFill>
                <a:latin typeface="Consolas"/>
              </a:rPr>
              <a:t>10</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7A8A99"/>
                </a:solidFill>
                <a:latin typeface="Consolas"/>
              </a:rPr>
              <a:t>AI ANALYTICS APPROACH</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0E1721"/>
                </a:solidFill>
                <a:latin typeface="Calibri"/>
              </a:rPr>
              <a:t>Detection, recognition, and event analytics</a:t>
            </a:r>
          </a:p>
        </p:txBody>
      </p:sp>
      <p:sp>
        <p:nvSpPr>
          <p:cNvPr id="7" name="Rectangle 6"/>
          <p:cNvSpPr/>
          <p:nvPr/>
        </p:nvSpPr>
        <p:spPr>
          <a:xfrm>
            <a:off x="713232" y="1285875"/>
            <a:ext cx="841248" cy="34925"/>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2167806"/>
            <a:ext cx="10911535" cy="310896"/>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wrap="none" tIns="64008" bIns="64008"/>
          <a:lstStyle/>
          <a:p>
            <a:pPr algn="l">
              <a:spcAft>
                <a:spcPts val="0"/>
              </a:spcAft>
            </a:pPr>
            <a:r>
              <a:rPr sz="700" b="0" i="0">
                <a:solidFill>
                  <a:srgbClr val="47586A"/>
                </a:solidFill>
                <a:latin typeface="Consolas"/>
              </a:rPr>
              <a:t>decode → sample → detect + track → locate plate → OCR → reject overlay text → per-track vote → normalise → persist</a:t>
            </a:r>
          </a:p>
        </p:txBody>
      </p:sp>
      <p:graphicFrame>
        <p:nvGraphicFramePr>
          <p:cNvPr id="9" name="Table 8"/>
          <p:cNvGraphicFramePr>
            <a:graphicFrameLocks noGrp="1"/>
          </p:cNvGraphicFramePr>
          <p:nvPr/>
        </p:nvGraphicFramePr>
        <p:xfrm>
          <a:off x="713232" y="2661582"/>
          <a:ext cx="10911533" cy="2194560"/>
        </p:xfrm>
        <a:graphic>
          <a:graphicData uri="http://schemas.openxmlformats.org/drawingml/2006/table">
            <a:tbl>
              <a:tblPr>
                <a:tableStyleId>{5C22544A-7EE6-4342-B048-85BDC9FD1C3A}</a:tableStyleId>
              </a:tblPr>
              <a:tblGrid>
                <a:gridCol w="1684403"/>
                <a:gridCol w="4385875"/>
                <a:gridCol w="4841255"/>
              </a:tblGrid>
              <a:tr h="274320">
                <a:tc>
                  <a:txBody>
                    <a:bodyPr wrap="square"/>
                    <a:lstStyle/>
                    <a:p>
                      <a:r>
                        <a:rPr sz="800" b="1" i="0">
                          <a:solidFill>
                            <a:srgbClr val="7A8A99"/>
                          </a:solidFill>
                          <a:latin typeface="Consolas"/>
                        </a:rPr>
                        <a:t>STAGE</a:t>
                      </a:r>
                    </a:p>
                  </a:txBody>
                  <a:tcPr marL="64008" marR="64008" marT="41148" marB="41148" anchor="t">
                    <a:solidFill>
                      <a:srgbClr val="FFFFFF"/>
                    </a:solidFill>
                    <a:lnL w="0">
                      <a:noFill/>
                    </a:lnL>
                    <a:lnR w="0">
                      <a:noFill/>
                    </a:lnR>
                    <a:lnT w="0">
                      <a:noFill/>
                    </a:lnT>
                    <a:lnB w="12700" cap="flat" cmpd="sng" algn="ctr">
                      <a:solidFill>
                        <a:srgbClr val="12508F"/>
                      </a:solidFill>
                    </a:lnB>
                  </a:tcPr>
                </a:tc>
                <a:tc>
                  <a:txBody>
                    <a:bodyPr wrap="square"/>
                    <a:lstStyle/>
                    <a:p>
                      <a:r>
                        <a:rPr sz="800" b="1" i="0">
                          <a:solidFill>
                            <a:srgbClr val="7A8A99"/>
                          </a:solidFill>
                          <a:latin typeface="Consolas"/>
                        </a:rPr>
                        <a:t>APPROACH</a:t>
                      </a:r>
                    </a:p>
                  </a:txBody>
                  <a:tcPr marL="64008" marR="64008" marT="41148" marB="41148" anchor="t">
                    <a:solidFill>
                      <a:srgbClr val="FFFFFF"/>
                    </a:solidFill>
                    <a:lnL w="0">
                      <a:noFill/>
                    </a:lnL>
                    <a:lnR w="0">
                      <a:noFill/>
                    </a:lnR>
                    <a:lnT w="0">
                      <a:noFill/>
                    </a:lnT>
                    <a:lnB w="12700" cap="flat" cmpd="sng" algn="ctr">
                      <a:solidFill>
                        <a:srgbClr val="12508F"/>
                      </a:solidFill>
                    </a:lnB>
                  </a:tcPr>
                </a:tc>
                <a:tc>
                  <a:txBody>
                    <a:bodyPr wrap="square"/>
                    <a:lstStyle/>
                    <a:p>
                      <a:r>
                        <a:rPr sz="800" b="1" i="0">
                          <a:solidFill>
                            <a:srgbClr val="7A8A99"/>
                          </a:solidFill>
                          <a:latin typeface="Consolas"/>
                        </a:rPr>
                        <a:t>WHY IT IS THAT WAY</a:t>
                      </a:r>
                    </a:p>
                  </a:txBody>
                  <a:tcPr marL="64008" marR="64008" marT="41148" marB="41148" anchor="t">
                    <a:solidFill>
                      <a:srgbClr val="FFFFFF"/>
                    </a:solidFill>
                    <a:lnL w="0">
                      <a:noFill/>
                    </a:lnL>
                    <a:lnR w="0">
                      <a:noFill/>
                    </a:lnR>
                    <a:lnT w="0">
                      <a:noFill/>
                    </a:lnT>
                    <a:lnB w="12700" cap="flat" cmpd="sng" algn="ctr">
                      <a:solidFill>
                        <a:srgbClr val="12508F"/>
                      </a:solidFill>
                    </a:lnB>
                  </a:tcPr>
                </a:tc>
              </a:tr>
              <a:tr h="274320">
                <a:tc>
                  <a:txBody>
                    <a:bodyPr wrap="square"/>
                    <a:lstStyle/>
                    <a:p>
                      <a:r>
                        <a:rPr sz="900" b="1" i="0">
                          <a:solidFill>
                            <a:srgbClr val="47586A"/>
                          </a:solidFill>
                          <a:latin typeface="Calibri"/>
                        </a:rPr>
                        <a:t>Sampling</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Analysis rate follows scene activity</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80,000 × 15 fps = 1.2 M detections/s does not close. </a:t>
                      </a:r>
                      <a:r>
                        <a:rPr sz="900" b="0" i="0">
                          <a:solidFill>
                            <a:srgbClr val="1F7A52"/>
                          </a:solidFill>
                          <a:latin typeface="Calibri"/>
                        </a:rPr>
                        <a:t>81.3%</a:t>
                      </a:r>
                      <a:r>
                        <a:rPr sz="900" b="0" i="0">
                          <a:solidFill>
                            <a:srgbClr val="47586A"/>
                          </a:solidFill>
                          <a:latin typeface="Calibri"/>
                        </a:rPr>
                        <a:t> of analysis avoided</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Detect &amp; track</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Multi-object tracking, stable id per vehicle</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Voting needs a track, not a frame</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Plate localisation</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Inside the vehicle box only</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Removes the burnt-in-overlay error class entirely</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Recognition</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docTR on the CPU; </a:t>
                      </a:r>
                      <a:r>
                        <a:rPr sz="900" b="1" i="0">
                          <a:solidFill>
                            <a:srgbClr val="47586A"/>
                          </a:solidFill>
                          <a:latin typeface="Calibri"/>
                        </a:rPr>
                        <a:t>PaddleOCR-VL on GPU</a:t>
                      </a:r>
                      <a:r>
                        <a:rPr sz="900" b="0" i="0">
                          <a:solidFill>
                            <a:srgbClr val="47586A"/>
                          </a:solidFill>
                          <a:latin typeface="Calibri"/>
                        </a:rPr>
                        <a:t> for cameras an operator boosts</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Night plates found 35% → 62% → 100% on the test clips</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Voting</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Whole-string </a:t>
                      </a:r>
                      <a:r>
                        <a:rPr sz="900" b="0" i="0">
                          <a:solidFill>
                            <a:srgbClr val="47586A"/>
                          </a:solidFill>
                          <a:latin typeface="Calibri"/>
                        </a:rPr>
                        <a:t>and</a:t>
                      </a:r>
                      <a:r>
                        <a:rPr sz="900" b="0" i="0">
                          <a:solidFill>
                            <a:srgbClr val="47586A"/>
                          </a:solidFill>
                          <a:latin typeface="Calibri"/>
                        </a:rPr>
                        <a:t> per-character, confidence-weighted</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Per-frame emission duplicates records </a:t>
                      </a:r>
                      <a:r>
                        <a:rPr sz="900" b="0" i="0">
                          <a:solidFill>
                            <a:srgbClr val="47586A"/>
                          </a:solidFill>
                          <a:latin typeface="Calibri"/>
                        </a:rPr>
                        <a:t>and</a:t>
                      </a:r>
                      <a:r>
                        <a:rPr sz="900" b="0" i="0">
                          <a:solidFill>
                            <a:srgbClr val="47586A"/>
                          </a:solidFill>
                          <a:latin typeface="Calibri"/>
                        </a:rPr>
                        <a:t> discards many independent opinions</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Normalisation</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1" i="0">
                          <a:solidFill>
                            <a:srgbClr val="47586A"/>
                          </a:solidFill>
                          <a:latin typeface="Calibri"/>
                        </a:rPr>
                        <a:t>Positional</a:t>
                      </a:r>
                      <a:r>
                        <a:rPr sz="900" b="0" i="0">
                          <a:solidFill>
                            <a:srgbClr val="47586A"/>
                          </a:solidFill>
                          <a:latin typeface="Calibri"/>
                        </a:rPr>
                        <a:t>, coerced by plate slot, at write </a:t>
                      </a:r>
                      <a:r>
                        <a:rPr sz="900" b="0" i="0">
                          <a:solidFill>
                            <a:srgbClr val="47586A"/>
                          </a:solidFill>
                          <a:latin typeface="Calibri"/>
                        </a:rPr>
                        <a:t>and</a:t>
                      </a:r>
                      <a:r>
                        <a:rPr sz="900" b="0" i="0">
                          <a:solidFill>
                            <a:srgbClr val="47586A"/>
                          </a:solidFill>
                          <a:latin typeface="Calibri"/>
                        </a:rPr>
                        <a:t> query time</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A global </a:t>
                      </a:r>
                      <a:r>
                        <a:rPr sz="900" b="1" i="0">
                          <a:solidFill>
                            <a:srgbClr val="47586A"/>
                          </a:solidFill>
                          <a:latin typeface="Calibri"/>
                        </a:rPr>
                        <a:t>O→0</a:t>
                      </a:r>
                      <a:r>
                        <a:rPr sz="900" b="0" i="0">
                          <a:solidFill>
                            <a:srgbClr val="47586A"/>
                          </a:solidFill>
                          <a:latin typeface="Calibri"/>
                        </a:rPr>
                        <a:t> merges different vehicles onto one key</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Persistence</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Unconditional, including format failures</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A mis-read wanted vehicle is worse than a noisy record</a:t>
                      </a:r>
                    </a:p>
                  </a:txBody>
                  <a:tcPr marL="64008" marR="64008" marT="41148" marB="41148" anchor="t">
                    <a:solidFill>
                      <a:srgbClr val="FFFFFF"/>
                    </a:solidFill>
                    <a:lnL w="0">
                      <a:noFill/>
                    </a:lnL>
                    <a:lnR w="0">
                      <a:noFill/>
                    </a:lnR>
                    <a:lnT w="0">
                      <a:noFill/>
                    </a:lnT>
                    <a:lnB w="6350" cap="flat" cmpd="sng" algn="ctr">
                      <a:solidFill>
                        <a:srgbClr val="DCE3E8"/>
                      </a:solidFill>
                    </a:lnB>
                  </a:tcPr>
                </a:tc>
              </a:tr>
            </a:tbl>
          </a:graphicData>
        </a:graphic>
      </p:graphicFrame>
      <p:sp>
        <p:nvSpPr>
          <p:cNvPr id="10" name="Rectangle 9"/>
          <p:cNvSpPr/>
          <p:nvPr/>
        </p:nvSpPr>
        <p:spPr>
          <a:xfrm>
            <a:off x="713232" y="591032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001766"/>
            <a:ext cx="10911535" cy="274320"/>
          </a:xfrm>
          <a:prstGeom prst="rect">
            <a:avLst/>
          </a:prstGeom>
          <a:noFill/>
        </p:spPr>
        <p:txBody>
          <a:bodyPr wrap="square" lIns="0" rIns="0" tIns="0" bIns="0">
            <a:spAutoFit/>
          </a:bodyPr>
          <a:lstStyle/>
          <a:p>
            <a:r>
              <a:rPr sz="850" b="1" i="0">
                <a:solidFill>
                  <a:srgbClr val="7A8A99"/>
                </a:solidFill>
                <a:latin typeface="Consolas"/>
              </a:rPr>
              <a:t>Beyond ANPR:</a:t>
            </a:r>
            <a:r>
              <a:rPr sz="850" b="0" i="0">
                <a:solidFill>
                  <a:srgbClr val="7A8A99"/>
                </a:solidFill>
                <a:latin typeface="Consolas"/>
              </a:rPr>
              <a:t> vehicle class and appearance attributes · </a:t>
            </a:r>
            <a:r>
              <a:rPr sz="850" b="1" i="0">
                <a:solidFill>
                  <a:srgbClr val="7A8A99"/>
                </a:solidFill>
                <a:latin typeface="Consolas"/>
              </a:rPr>
              <a:t>a vehicle id on every sighting</a:t>
            </a:r>
            <a:r>
              <a:rPr sz="850" b="0" i="0">
                <a:solidFill>
                  <a:srgbClr val="7A8A99"/>
                </a:solidFill>
                <a:latin typeface="Consolas"/>
              </a:rPr>
              <a:t>, joined by plate or by a learned appearance vector (DINOv2-small), so an unreadable vehicle can still be followed · self-calibrating tamper detection · per-camera health analytics · </a:t>
            </a:r>
            <a:r>
              <a:rPr sz="850" b="1" i="0">
                <a:solidFill>
                  <a:srgbClr val="7A8A99"/>
                </a:solidFill>
                <a:latin typeface="Consolas"/>
              </a:rPr>
              <a:t>on-demand OCR boost</a:t>
            </a:r>
            <a:r>
              <a:rPr sz="850" b="0" i="0">
                <a:solidFill>
                  <a:srgbClr val="7A8A99"/>
                </a:solidFill>
                <a:latin typeface="Consolas"/>
              </a:rPr>
              <a:t> for the cameras around a location.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7A8A99"/>
                </a:solidFill>
                <a:latin typeface="Consolas"/>
              </a:rPr>
              <a:t>ELEMENT 4 OF 8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7A8A99"/>
                </a:solidFill>
                <a:latin typeface="Consolas"/>
              </a:rPr>
              <a:t>11</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7A8A99"/>
                </a:solidFill>
                <a:latin typeface="Consolas"/>
              </a:rPr>
              <a:t>AI ANALYTICS: WHAT THE MEASUREMENTS SAID</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0E1721"/>
                </a:solidFill>
                <a:latin typeface="Calibri"/>
              </a:rPr>
              <a:t>Accuracy is reported per condition, because one headline would average three problems</a:t>
            </a:r>
          </a:p>
        </p:txBody>
      </p:sp>
      <p:sp>
        <p:nvSpPr>
          <p:cNvPr id="7" name="Rectangle 6"/>
          <p:cNvSpPr/>
          <p:nvPr/>
        </p:nvSpPr>
        <p:spPr>
          <a:xfrm>
            <a:off x="713232" y="1285875"/>
            <a:ext cx="841248" cy="34925"/>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713232" y="2096757"/>
          <a:ext cx="5336893" cy="1371600"/>
        </p:xfrm>
        <a:graphic>
          <a:graphicData uri="http://schemas.openxmlformats.org/drawingml/2006/table">
            <a:tbl>
              <a:tblPr>
                <a:tableStyleId>{5C22544A-7EE6-4342-B048-85BDC9FD1C3A}</a:tableStyleId>
              </a:tblPr>
              <a:tblGrid>
                <a:gridCol w="2442455"/>
                <a:gridCol w="934076"/>
                <a:gridCol w="1960362"/>
              </a:tblGrid>
              <a:tr h="274320">
                <a:tc>
                  <a:txBody>
                    <a:bodyPr wrap="square"/>
                    <a:lstStyle/>
                    <a:p>
                      <a:r>
                        <a:rPr sz="800" b="1" i="0">
                          <a:solidFill>
                            <a:srgbClr val="7A8A99"/>
                          </a:solidFill>
                          <a:latin typeface="Consolas"/>
                        </a:rPr>
                        <a:t>CONDITION</a:t>
                      </a:r>
                    </a:p>
                  </a:txBody>
                  <a:tcPr marL="64008" marR="64008" marT="41148" marB="41148" anchor="t">
                    <a:solidFill>
                      <a:srgbClr val="FFFFFF"/>
                    </a:solidFill>
                    <a:lnL w="0">
                      <a:noFill/>
                    </a:lnL>
                    <a:lnR w="0">
                      <a:noFill/>
                    </a:lnR>
                    <a:lnT w="0">
                      <a:noFill/>
                    </a:lnT>
                    <a:lnB w="12700" cap="flat" cmpd="sng" algn="ctr">
                      <a:solidFill>
                        <a:srgbClr val="12508F"/>
                      </a:solidFill>
                    </a:lnB>
                  </a:tcPr>
                </a:tc>
                <a:tc>
                  <a:txBody>
                    <a:bodyPr wrap="square"/>
                    <a:lstStyle/>
                    <a:p>
                      <a:pPr algn="r"/>
                      <a:r>
                        <a:rPr sz="800" b="1" i="0">
                          <a:solidFill>
                            <a:srgbClr val="7A8A99"/>
                          </a:solidFill>
                          <a:latin typeface="Consolas"/>
                        </a:rPr>
                        <a:t>EXACT</a:t>
                      </a:r>
                    </a:p>
                  </a:txBody>
                  <a:tcPr marL="64008" marR="64008" marT="41148" marB="41148" anchor="t">
                    <a:solidFill>
                      <a:srgbClr val="FFFFFF"/>
                    </a:solidFill>
                    <a:lnL w="0">
                      <a:noFill/>
                    </a:lnL>
                    <a:lnR w="0">
                      <a:noFill/>
                    </a:lnR>
                    <a:lnT w="0">
                      <a:noFill/>
                    </a:lnT>
                    <a:lnB w="12700" cap="flat" cmpd="sng" algn="ctr">
                      <a:solidFill>
                        <a:srgbClr val="12508F"/>
                      </a:solidFill>
                    </a:lnB>
                  </a:tcPr>
                </a:tc>
                <a:tc>
                  <a:txBody>
                    <a:bodyPr wrap="square"/>
                    <a:lstStyle/>
                    <a:p>
                      <a:pPr algn="r"/>
                      <a:r>
                        <a:rPr sz="800" b="1" i="0">
                          <a:solidFill>
                            <a:srgbClr val="7A8A99"/>
                          </a:solidFill>
                          <a:latin typeface="Consolas"/>
                        </a:rPr>
                        <a:t>WITHIN 2 CHARS</a:t>
                      </a:r>
                    </a:p>
                  </a:txBody>
                  <a:tcPr marL="64008" marR="64008" marT="41148" marB="41148" anchor="t">
                    <a:solidFill>
                      <a:srgbClr val="FFFFFF"/>
                    </a:solidFill>
                    <a:lnL w="0">
                      <a:noFill/>
                    </a:lnL>
                    <a:lnR w="0">
                      <a:noFill/>
                    </a:lnR>
                    <a:lnT w="0">
                      <a:noFill/>
                    </a:lnT>
                    <a:lnB w="12700" cap="flat" cmpd="sng" algn="ctr">
                      <a:solidFill>
                        <a:srgbClr val="12508F"/>
                      </a:solidFill>
                    </a:lnB>
                  </a:tcPr>
                </a:tc>
              </a:tr>
              <a:tr h="274320">
                <a:tc>
                  <a:txBody>
                    <a:bodyPr wrap="square"/>
                    <a:lstStyle/>
                    <a:p>
                      <a:r>
                        <a:rPr sz="900" b="1" i="0">
                          <a:solidFill>
                            <a:srgbClr val="47586A"/>
                          </a:solidFill>
                          <a:latin typeface="Calibri"/>
                        </a:rPr>
                        <a:t>Daylight</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0" i="0">
                          <a:solidFill>
                            <a:srgbClr val="1F7A52"/>
                          </a:solidFill>
                          <a:latin typeface="Calibri"/>
                        </a:rPr>
                        <a:t>86.6%</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0" i="0">
                          <a:solidFill>
                            <a:srgbClr val="47586A"/>
                          </a:solidFill>
                          <a:latin typeface="Calibri"/>
                        </a:rPr>
                        <a:t>98.1%</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Glare</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1" i="0">
                          <a:solidFill>
                            <a:srgbClr val="47586A"/>
                          </a:solidFill>
                          <a:latin typeface="Calibri"/>
                        </a:rPr>
                        <a:t>57.1%</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0" i="0">
                          <a:solidFill>
                            <a:srgbClr val="47586A"/>
                          </a:solidFill>
                          <a:latin typeface="Calibri"/>
                        </a:rPr>
                        <a:t>92.9%</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Night</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0" i="0">
                          <a:solidFill>
                            <a:srgbClr val="B23A2F"/>
                          </a:solidFill>
                          <a:latin typeface="Calibri"/>
                        </a:rPr>
                        <a:t>58.6%</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0" i="0">
                          <a:solidFill>
                            <a:srgbClr val="47586A"/>
                          </a:solidFill>
                          <a:latin typeface="Calibri"/>
                        </a:rPr>
                        <a:t>75.9%</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Overall, ANPR-grade</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0" i="0">
                          <a:solidFill>
                            <a:srgbClr val="1F7A52"/>
                          </a:solidFill>
                          <a:latin typeface="Calibri"/>
                        </a:rPr>
                        <a:t>82.4%</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1" i="0">
                          <a:solidFill>
                            <a:srgbClr val="47586A"/>
                          </a:solidFill>
                          <a:latin typeface="Calibri"/>
                        </a:rPr>
                        <a:t>95.1%</a:t>
                      </a:r>
                    </a:p>
                  </a:txBody>
                  <a:tcPr marL="64008" marR="64008" marT="41148" marB="41148" anchor="t">
                    <a:solidFill>
                      <a:srgbClr val="FFFFFF"/>
                    </a:solidFill>
                    <a:lnL w="0">
                      <a:noFill/>
                    </a:lnL>
                    <a:lnR w="0">
                      <a:noFill/>
                    </a:lnR>
                    <a:lnT w="0">
                      <a:noFill/>
                    </a:lnT>
                    <a:lnB w="6350" cap="flat" cmpd="sng" algn="ctr">
                      <a:solidFill>
                        <a:srgbClr val="DCE3E8"/>
                      </a:solidFill>
                    </a:lnB>
                  </a:tcPr>
                </a:tc>
              </a:tr>
            </a:tbl>
          </a:graphicData>
        </a:graphic>
      </p:graphicFrame>
      <p:sp>
        <p:nvSpPr>
          <p:cNvPr id="9" name="TextBox 8"/>
          <p:cNvSpPr txBox="1"/>
          <p:nvPr/>
        </p:nvSpPr>
        <p:spPr>
          <a:xfrm>
            <a:off x="713232" y="3514077"/>
            <a:ext cx="5336895" cy="274320"/>
          </a:xfrm>
          <a:prstGeom prst="rect">
            <a:avLst/>
          </a:prstGeom>
          <a:noFill/>
        </p:spPr>
        <p:txBody>
          <a:bodyPr wrap="square" lIns="0" rIns="0" tIns="0" bIns="0">
            <a:spAutoFit/>
          </a:bodyPr>
          <a:lstStyle/>
          <a:p>
            <a:r>
              <a:rPr sz="850" b="1" i="0">
                <a:solidFill>
                  <a:srgbClr val="7A8A99"/>
                </a:solidFill>
                <a:latin typeface="Consolas"/>
              </a:rPr>
              <a:t>Night is the weak spot</a:t>
            </a:r>
            <a:r>
              <a:rPr sz="850" b="0" i="0">
                <a:solidFill>
                  <a:srgbClr val="7A8A99"/>
                </a:solidFill>
                <a:latin typeface="Consolas"/>
              </a:rPr>
              <a:t>, and it is on the slide rather than in a footnote. Measured with Tesseract; docTR, the default reader since 14 Sep, finds 62% of night plates against Tesseract's 35% on the same clips.</a:t>
            </a:r>
          </a:p>
        </p:txBody>
      </p:sp>
      <p:sp>
        <p:nvSpPr>
          <p:cNvPr id="10" name="TextBox 9"/>
          <p:cNvSpPr txBox="1"/>
          <p:nvPr/>
        </p:nvSpPr>
        <p:spPr>
          <a:xfrm>
            <a:off x="6287871" y="2096757"/>
            <a:ext cx="5336895" cy="274320"/>
          </a:xfrm>
          <a:prstGeom prst="rect">
            <a:avLst/>
          </a:prstGeom>
          <a:noFill/>
        </p:spPr>
        <p:txBody>
          <a:bodyPr wrap="square" lIns="0" rIns="0" tIns="0" bIns="0">
            <a:spAutoFit/>
          </a:bodyPr>
          <a:lstStyle/>
          <a:p>
            <a:r>
              <a:rPr sz="850" b="0" i="0" spc="90">
                <a:solidFill>
                  <a:srgbClr val="7A8A99"/>
                </a:solidFill>
                <a:latin typeface="Consolas"/>
              </a:rPr>
              <a:t>THE FINDING THAT SURPRISED US</a:t>
            </a:r>
          </a:p>
        </p:txBody>
      </p:sp>
      <p:sp>
        <p:nvSpPr>
          <p:cNvPr id="11" name="TextBox 10"/>
          <p:cNvSpPr txBox="1"/>
          <p:nvPr/>
        </p:nvSpPr>
        <p:spPr>
          <a:xfrm>
            <a:off x="6287871" y="2378570"/>
            <a:ext cx="5336895" cy="274320"/>
          </a:xfrm>
          <a:prstGeom prst="rect">
            <a:avLst/>
          </a:prstGeom>
          <a:noFill/>
        </p:spPr>
        <p:txBody>
          <a:bodyPr wrap="square" lIns="0" rIns="0" tIns="0" bIns="0">
            <a:spAutoFit/>
          </a:bodyPr>
          <a:lstStyle/>
          <a:p>
            <a:r>
              <a:rPr sz="1050" b="0" i="0">
                <a:solidFill>
                  <a:srgbClr val="47586A"/>
                </a:solidFill>
                <a:latin typeface="Calibri"/>
              </a:rPr>
              <a:t>Heavier was not better</a:t>
            </a:r>
          </a:p>
        </p:txBody>
      </p:sp>
      <p:graphicFrame>
        <p:nvGraphicFramePr>
          <p:cNvPr id="12" name="Table 11"/>
          <p:cNvGraphicFramePr>
            <a:graphicFrameLocks noGrp="1"/>
          </p:cNvGraphicFramePr>
          <p:nvPr/>
        </p:nvGraphicFramePr>
        <p:xfrm>
          <a:off x="6287871" y="2694419"/>
          <a:ext cx="5336894" cy="1371600"/>
        </p:xfrm>
        <a:graphic>
          <a:graphicData uri="http://schemas.openxmlformats.org/drawingml/2006/table">
            <a:tbl>
              <a:tblPr>
                <a:tableStyleId>{5C22544A-7EE6-4342-B048-85BDC9FD1C3A}</a:tableStyleId>
              </a:tblPr>
              <a:tblGrid>
                <a:gridCol w="3818574"/>
                <a:gridCol w="1518320"/>
              </a:tblGrid>
              <a:tr h="274320">
                <a:tc>
                  <a:txBody>
                    <a:bodyPr wrap="square"/>
                    <a:lstStyle/>
                    <a:p>
                      <a:r>
                        <a:rPr sz="900" b="1" i="0">
                          <a:solidFill>
                            <a:srgbClr val="47586A"/>
                          </a:solidFill>
                          <a:latin typeface="Calibri"/>
                        </a:rPr>
                        <a:t>Tesseract</a:t>
                      </a:r>
                      <a:r>
                        <a:rPr sz="900" b="0" i="0">
                          <a:solidFill>
                            <a:srgbClr val="47586A"/>
                          </a:solidFill>
                          <a:latin typeface="Calibri"/>
                        </a:rPr>
                        <a:t> on Indian plates</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0" i="0">
                          <a:solidFill>
                            <a:srgbClr val="1F7A52"/>
                          </a:solidFill>
                          <a:latin typeface="Calibri"/>
                        </a:rPr>
                        <a:t>83% exact</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0" i="0">
                          <a:solidFill>
                            <a:srgbClr val="47586A"/>
                          </a:solidFill>
                          <a:latin typeface="Calibri"/>
                        </a:rPr>
                        <a:t>A general hub OCR model, </a:t>
                      </a:r>
                      <a:r>
                        <a:rPr sz="900" b="1" i="0">
                          <a:solidFill>
                            <a:srgbClr val="47586A"/>
                          </a:solidFill>
                          <a:latin typeface="Calibri"/>
                        </a:rPr>
                        <a:t>same crops</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0" i="0">
                          <a:solidFill>
                            <a:srgbClr val="B23A2F"/>
                          </a:solidFill>
                          <a:latin typeface="Calibri"/>
                        </a:rPr>
                        <a:t>1.1% exact</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0" i="0">
                          <a:solidFill>
                            <a:srgbClr val="47586A"/>
                          </a:solidFill>
                          <a:latin typeface="Calibri"/>
                        </a:rPr>
                        <a:t>Single-image </a:t>
                      </a:r>
                      <a:r>
                        <a:rPr sz="900" b="1" i="0">
                          <a:solidFill>
                            <a:srgbClr val="47586A"/>
                          </a:solidFill>
                          <a:latin typeface="Calibri"/>
                        </a:rPr>
                        <a:t>GPU</a:t>
                      </a:r>
                      <a:r>
                        <a:rPr sz="900" b="0" i="0">
                          <a:solidFill>
                            <a:srgbClr val="47586A"/>
                          </a:solidFill>
                          <a:latin typeface="Calibri"/>
                        </a:rPr>
                        <a:t> inference</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1" i="0">
                          <a:solidFill>
                            <a:srgbClr val="47586A"/>
                          </a:solidFill>
                          <a:latin typeface="Calibri"/>
                        </a:rPr>
                        <a:t>24.4 ms</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0" i="0">
                          <a:solidFill>
                            <a:srgbClr val="47586A"/>
                          </a:solidFill>
                          <a:latin typeface="Calibri"/>
                        </a:rPr>
                        <a:t>The </a:t>
                      </a:r>
                      <a:r>
                        <a:rPr sz="900" b="1" i="0">
                          <a:solidFill>
                            <a:srgbClr val="47586A"/>
                          </a:solidFill>
                          <a:latin typeface="Calibri"/>
                        </a:rPr>
                        <a:t>CPU</a:t>
                      </a:r>
                      <a:r>
                        <a:rPr sz="900" b="0" i="0">
                          <a:solidFill>
                            <a:srgbClr val="47586A"/>
                          </a:solidFill>
                          <a:latin typeface="Calibri"/>
                        </a:rPr>
                        <a:t> path it was meant to beat</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0" i="0">
                          <a:solidFill>
                            <a:srgbClr val="1F7A52"/>
                          </a:solidFill>
                          <a:latin typeface="Calibri"/>
                        </a:rPr>
                        <a:t>17.0 ms</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docTR</a:t>
                      </a:r>
                      <a:r>
                        <a:rPr sz="900" b="0" i="0">
                          <a:solidFill>
                            <a:srgbClr val="47586A"/>
                          </a:solidFill>
                          <a:latin typeface="Calibri"/>
                        </a:rPr>
                        <a:t> on the CPU, night plates found</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0" i="0">
                          <a:solidFill>
                            <a:srgbClr val="1F7A52"/>
                          </a:solidFill>
                          <a:latin typeface="Calibri"/>
                        </a:rPr>
                        <a:t>62%</a:t>
                      </a:r>
                      <a:r>
                        <a:rPr sz="900" b="0" i="0">
                          <a:solidFill>
                            <a:srgbClr val="47586A"/>
                          </a:solidFill>
                          <a:latin typeface="Calibri"/>
                        </a:rPr>
                        <a:t> vs 35%</a:t>
                      </a:r>
                    </a:p>
                  </a:txBody>
                  <a:tcPr marL="64008" marR="64008" marT="41148" marB="41148" anchor="t">
                    <a:solidFill>
                      <a:srgbClr val="FFFFFF"/>
                    </a:solidFill>
                    <a:lnL w="0">
                      <a:noFill/>
                    </a:lnL>
                    <a:lnR w="0">
                      <a:noFill/>
                    </a:lnR>
                    <a:lnT w="0">
                      <a:noFill/>
                    </a:lnT>
                    <a:lnB w="6350" cap="flat" cmpd="sng" algn="ctr">
                      <a:solidFill>
                        <a:srgbClr val="DCE3E8"/>
                      </a:solidFill>
                    </a:lnB>
                  </a:tcPr>
                </a:tc>
              </a:tr>
            </a:tbl>
          </a:graphicData>
        </a:graphic>
      </p:graphicFrame>
      <p:sp>
        <p:nvSpPr>
          <p:cNvPr id="13" name="Rectangle 12"/>
          <p:cNvSpPr/>
          <p:nvPr/>
        </p:nvSpPr>
        <p:spPr>
          <a:xfrm>
            <a:off x="6287871" y="4111739"/>
            <a:ext cx="31750" cy="1031240"/>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4175" y="4111739"/>
            <a:ext cx="5190591" cy="1031240"/>
          </a:xfrm>
          <a:prstGeom prst="rect">
            <a:avLst/>
          </a:prstGeom>
          <a:noFill/>
        </p:spPr>
        <p:txBody>
          <a:bodyPr wrap="square" lIns="0" rIns="0" tIns="0" bIns="0">
            <a:spAutoFit/>
          </a:bodyPr>
          <a:lstStyle/>
          <a:p>
            <a:pPr>
              <a:spcAft>
                <a:spcPts val="400"/>
              </a:spcAft>
            </a:pPr>
            <a:r>
              <a:rPr sz="1300" b="1" i="0">
                <a:solidFill>
                  <a:srgbClr val="0E1721"/>
                </a:solidFill>
                <a:latin typeface="Calibri"/>
              </a:rPr>
              <a:t>Light models by default, heavy models as a measured per-camera fallback.</a:t>
            </a:r>
            <a:r>
              <a:rPr sz="1300" b="0" i="0">
                <a:solidFill>
                  <a:srgbClr val="0E1721"/>
                </a:solidFill>
                <a:latin typeface="Calibri"/>
              </a:rPr>
              <a:t> A camera the light path demonstrably cannot read escalates on its own evidence, one rung at a time, budgeted, and rolled back if it does not help.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7A8A99"/>
                </a:solidFill>
                <a:latin typeface="Consolas"/>
              </a:rPr>
              <a:t>ELEMENT 4 OF 8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7A8A99"/>
                </a:solidFill>
                <a:latin typeface="Consolas"/>
              </a:rPr>
              <a:t>12</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7A8A99"/>
                </a:solidFill>
                <a:latin typeface="Consolas"/>
              </a:rPr>
              <a:t>THE READER LADDER, MEASURED</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0E1721"/>
                </a:solidFill>
                <a:latin typeface="Calibri"/>
              </a:rPr>
              <a:t>Night is where readers separate, and it is the condition that matters</a:t>
            </a:r>
          </a:p>
        </p:txBody>
      </p:sp>
      <p:sp>
        <p:nvSpPr>
          <p:cNvPr id="7" name="Rectangle 6"/>
          <p:cNvSpPr/>
          <p:nvPr/>
        </p:nvSpPr>
        <p:spPr>
          <a:xfrm>
            <a:off x="713232" y="1285875"/>
            <a:ext cx="841248" cy="34925"/>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Chart 7"/>
          <p:cNvGraphicFramePr>
            <a:graphicFrameLocks noGrp="1"/>
          </p:cNvGraphicFramePr>
          <p:nvPr/>
        </p:nvGraphicFramePr>
        <p:xfrm>
          <a:off x="713232" y="1523619"/>
          <a:ext cx="10911535" cy="3200400"/>
        </p:xfrm>
        <a:graphic>
          <a:graphicData uri="http://schemas.openxmlformats.org/drawingml/2006/chart">
            <c:chart xmlns:c="http://schemas.openxmlformats.org/drawingml/2006/chart" r:id="rId2"/>
          </a:graphicData>
        </a:graphic>
      </p:graphicFrame>
      <p:sp>
        <p:nvSpPr>
          <p:cNvPr id="9" name="TextBox 8"/>
          <p:cNvSpPr txBox="1"/>
          <p:nvPr/>
        </p:nvSpPr>
        <p:spPr>
          <a:xfrm>
            <a:off x="713232" y="4815459"/>
            <a:ext cx="10911535" cy="399034"/>
          </a:xfrm>
          <a:prstGeom prst="rect">
            <a:avLst/>
          </a:prstGeom>
          <a:noFill/>
        </p:spPr>
        <p:txBody>
          <a:bodyPr wrap="square" lIns="0" rIns="0" tIns="0" bIns="0">
            <a:spAutoFit/>
          </a:bodyPr>
          <a:lstStyle/>
          <a:p>
            <a:r>
              <a:rPr sz="850" b="1" i="0">
                <a:solidFill>
                  <a:srgbClr val="7A8A99"/>
                </a:solidFill>
                <a:latin typeface="Calibri"/>
              </a:rPr>
              <a:t>Plates found on the 12 generated traffic clips</a:t>
            </a:r>
            <a:r>
              <a:rPr sz="850" b="0" i="0">
                <a:solidFill>
                  <a:srgbClr val="7A8A99"/>
                </a:solidFill>
                <a:latin typeface="Calibri"/>
              </a:rPr>
              <a:t>, 101 night and 69 day. Measured 14 Sep 2026. docTR is the default because it fits a CPU edge box at 37 ms per crop; PaddleOCR-VL needs a GPU and runs only on cameras an operator boosts.</a:t>
            </a:r>
          </a:p>
        </p:txBody>
      </p:sp>
      <p:sp>
        <p:nvSpPr>
          <p:cNvPr id="10" name="Rectangle 9"/>
          <p:cNvSpPr/>
          <p:nvPr/>
        </p:nvSpPr>
        <p:spPr>
          <a:xfrm>
            <a:off x="713232" y="6054979"/>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146419"/>
            <a:ext cx="10911535" cy="274320"/>
          </a:xfrm>
          <a:prstGeom prst="rect">
            <a:avLst/>
          </a:prstGeom>
          <a:noFill/>
        </p:spPr>
        <p:txBody>
          <a:bodyPr wrap="square" lIns="0" rIns="0" tIns="0" bIns="0">
            <a:spAutoFit/>
          </a:bodyPr>
          <a:lstStyle/>
          <a:p>
            <a:r>
              <a:rPr sz="850" b="1" i="0">
                <a:solidFill>
                  <a:srgbClr val="7A8A99"/>
                </a:solidFill>
                <a:latin typeface="Consolas"/>
              </a:rPr>
              <a:t>Day hides the difference.</a:t>
            </a:r>
            <a:r>
              <a:rPr sz="850" b="0" i="0">
                <a:solidFill>
                  <a:srgbClr val="7A8A99"/>
                </a:solidFill>
                <a:latin typeface="Consolas"/>
              </a:rPr>
              <a:t> Every reader is respectable in daylight, so a daylight-only benchmark would have justified the cheapest one and left the estate blind at night, which is when the vehicles we are asked about actually move.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7A8A99"/>
                </a:solidFill>
                <a:latin typeface="Consolas"/>
              </a:rPr>
              <a:t>ELEMENT 5 OF 8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7A8A99"/>
                </a:solidFill>
                <a:latin typeface="Consolas"/>
              </a:rPr>
              <a:t>13</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7A8A99"/>
                </a:solidFill>
                <a:latin typeface="Consolas"/>
              </a:rPr>
              <a:t>WATCHLIST CORRELATION METHODOLOGY</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0E1721"/>
                </a:solidFill>
                <a:latin typeface="Calibri"/>
              </a:rPr>
              <a:t>A match is not a boolean</a:t>
            </a:r>
          </a:p>
        </p:txBody>
      </p:sp>
      <p:sp>
        <p:nvSpPr>
          <p:cNvPr id="7" name="Rectangle 6"/>
          <p:cNvSpPr/>
          <p:nvPr/>
        </p:nvSpPr>
        <p:spPr>
          <a:xfrm>
            <a:off x="713232" y="1285875"/>
            <a:ext cx="841248" cy="34925"/>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2046959"/>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284703"/>
            <a:ext cx="10911535" cy="274320"/>
          </a:xfrm>
          <a:prstGeom prst="rect">
            <a:avLst/>
          </a:prstGeom>
          <a:noFill/>
        </p:spPr>
        <p:txBody>
          <a:bodyPr wrap="square" lIns="0" rIns="0" tIns="0" bIns="0">
            <a:spAutoFit/>
          </a:bodyPr>
          <a:lstStyle/>
          <a:p>
            <a:r>
              <a:rPr sz="1300" b="0" i="0">
                <a:solidFill>
                  <a:srgbClr val="47586A"/>
                </a:solidFill>
                <a:latin typeface="Calibri"/>
              </a:rPr>
              <a:t>Matching happens </a:t>
            </a:r>
            <a:r>
              <a:rPr sz="1300" b="1" i="0">
                <a:solidFill>
                  <a:srgbClr val="47586A"/>
                </a:solidFill>
                <a:latin typeface="Calibri"/>
              </a:rPr>
              <a:t>on the write path</a:t>
            </a:r>
            <a:r>
              <a:rPr sz="1300" b="0" i="0">
                <a:solidFill>
                  <a:srgbClr val="47586A"/>
                </a:solidFill>
                <a:latin typeface="Calibri"/>
              </a:rPr>
              <a:t>, not in a downstream consumer. The watchlist is held in process and refreshed on a 2-second timer, at 104 sightings a minute, a per-sighting query puts a network round trip on the pipeline's hot path.</a:t>
            </a:r>
          </a:p>
        </p:txBody>
      </p:sp>
      <p:graphicFrame>
        <p:nvGraphicFramePr>
          <p:cNvPr id="10" name="Table 9"/>
          <p:cNvGraphicFramePr>
            <a:graphicFrameLocks noGrp="1"/>
          </p:cNvGraphicFramePr>
          <p:nvPr/>
        </p:nvGraphicFramePr>
        <p:xfrm>
          <a:off x="713232" y="2910051"/>
          <a:ext cx="10911534" cy="1097280"/>
        </p:xfrm>
        <a:graphic>
          <a:graphicData uri="http://schemas.openxmlformats.org/drawingml/2006/table">
            <a:tbl>
              <a:tblPr>
                <a:tableStyleId>{5C22544A-7EE6-4342-B048-85BDC9FD1C3A}</a:tableStyleId>
              </a:tblPr>
              <a:tblGrid>
                <a:gridCol w="1513710"/>
                <a:gridCol w="5127780"/>
                <a:gridCol w="4270044"/>
              </a:tblGrid>
              <a:tr h="274320">
                <a:tc>
                  <a:txBody>
                    <a:bodyPr wrap="square"/>
                    <a:lstStyle/>
                    <a:p>
                      <a:r>
                        <a:rPr sz="800" b="1" i="0">
                          <a:solidFill>
                            <a:srgbClr val="7A8A99"/>
                          </a:solidFill>
                          <a:latin typeface="Consolas"/>
                        </a:rPr>
                        <a:t>TIER</a:t>
                      </a:r>
                    </a:p>
                  </a:txBody>
                  <a:tcPr marL="64008" marR="64008" marT="41148" marB="41148" anchor="t">
                    <a:solidFill>
                      <a:srgbClr val="FFFFFF"/>
                    </a:solidFill>
                    <a:lnL w="0">
                      <a:noFill/>
                    </a:lnL>
                    <a:lnR w="0">
                      <a:noFill/>
                    </a:lnR>
                    <a:lnT w="0">
                      <a:noFill/>
                    </a:lnT>
                    <a:lnB w="12700" cap="flat" cmpd="sng" algn="ctr">
                      <a:solidFill>
                        <a:srgbClr val="12508F"/>
                      </a:solidFill>
                    </a:lnB>
                  </a:tcPr>
                </a:tc>
                <a:tc>
                  <a:txBody>
                    <a:bodyPr wrap="square"/>
                    <a:lstStyle/>
                    <a:p>
                      <a:r>
                        <a:rPr sz="800" b="1" i="0">
                          <a:solidFill>
                            <a:srgbClr val="7A8A99"/>
                          </a:solidFill>
                          <a:latin typeface="Consolas"/>
                        </a:rPr>
                        <a:t>CONDITION</a:t>
                      </a:r>
                    </a:p>
                  </a:txBody>
                  <a:tcPr marL="64008" marR="64008" marT="41148" marB="41148" anchor="t">
                    <a:solidFill>
                      <a:srgbClr val="FFFFFF"/>
                    </a:solidFill>
                    <a:lnL w="0">
                      <a:noFill/>
                    </a:lnL>
                    <a:lnR w="0">
                      <a:noFill/>
                    </a:lnR>
                    <a:lnT w="0">
                      <a:noFill/>
                    </a:lnT>
                    <a:lnB w="12700" cap="flat" cmpd="sng" algn="ctr">
                      <a:solidFill>
                        <a:srgbClr val="12508F"/>
                      </a:solidFill>
                    </a:lnB>
                  </a:tcPr>
                </a:tc>
                <a:tc>
                  <a:txBody>
                    <a:bodyPr wrap="square"/>
                    <a:lstStyle/>
                    <a:p>
                      <a:r>
                        <a:rPr sz="800" b="1" i="0">
                          <a:solidFill>
                            <a:srgbClr val="7A8A99"/>
                          </a:solidFill>
                          <a:latin typeface="Consolas"/>
                        </a:rPr>
                        <a:t>WHAT IT MEANS TO AN OPERATOR</a:t>
                      </a:r>
                    </a:p>
                  </a:txBody>
                  <a:tcPr marL="64008" marR="64008" marT="41148" marB="41148" anchor="t">
                    <a:solidFill>
                      <a:srgbClr val="FFFFFF"/>
                    </a:solidFill>
                    <a:lnL w="0">
                      <a:noFill/>
                    </a:lnL>
                    <a:lnR w="0">
                      <a:noFill/>
                    </a:lnR>
                    <a:lnT w="0">
                      <a:noFill/>
                    </a:lnT>
                    <a:lnB w="12700" cap="flat" cmpd="sng" algn="ctr">
                      <a:solidFill>
                        <a:srgbClr val="12508F"/>
                      </a:solidFill>
                    </a:lnB>
                  </a:tcPr>
                </a:tc>
              </a:tr>
              <a:tr h="274320">
                <a:tc>
                  <a:txBody>
                    <a:bodyPr wrap="square"/>
                    <a:lstStyle/>
                    <a:p>
                      <a:r>
                        <a:rPr sz="900" b="0" i="0">
                          <a:solidFill>
                            <a:srgbClr val="1F7A52"/>
                          </a:solidFill>
                          <a:latin typeface="Calibri"/>
                        </a:rPr>
                        <a:t>confirmed</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Exact key </a:t>
                      </a:r>
                      <a:r>
                        <a:rPr sz="900" b="1" i="0">
                          <a:solidFill>
                            <a:srgbClr val="47586A"/>
                          </a:solidFill>
                          <a:latin typeface="Calibri"/>
                        </a:rPr>
                        <a:t>and</a:t>
                      </a:r>
                      <a:r>
                        <a:rPr sz="900" b="0" i="0">
                          <a:solidFill>
                            <a:srgbClr val="47586A"/>
                          </a:solidFill>
                          <a:latin typeface="Calibri"/>
                        </a:rPr>
                        <a:t> confidence ≥ 0.85</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Act on it</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probable</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Exact key at lower confidence, </a:t>
                      </a:r>
                      <a:r>
                        <a:rPr sz="900" b="1" i="0">
                          <a:solidFill>
                            <a:srgbClr val="47586A"/>
                          </a:solidFill>
                          <a:latin typeface="Calibri"/>
                        </a:rPr>
                        <a:t>or</a:t>
                      </a:r>
                      <a:r>
                        <a:rPr sz="900" b="0" i="0">
                          <a:solidFill>
                            <a:srgbClr val="47586A"/>
                          </a:solidFill>
                          <a:latin typeface="Calibri"/>
                        </a:rPr>
                        <a:t> edit distance 1</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Verify against the evidence crop first</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possible</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Edit distance 2</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A lead, corroborate before acting</a:t>
                      </a:r>
                    </a:p>
                  </a:txBody>
                  <a:tcPr marL="64008" marR="64008" marT="41148" marB="41148" anchor="t">
                    <a:solidFill>
                      <a:srgbClr val="FFFFFF"/>
                    </a:solidFill>
                    <a:lnL w="0">
                      <a:noFill/>
                    </a:lnL>
                    <a:lnR w="0">
                      <a:noFill/>
                    </a:lnR>
                    <a:lnT w="0">
                      <a:noFill/>
                    </a:lnT>
                    <a:lnB w="6350" cap="flat" cmpd="sng" algn="ctr">
                      <a:solidFill>
                        <a:srgbClr val="DCE3E8"/>
                      </a:solidFill>
                    </a:lnB>
                  </a:tcPr>
                </a:tc>
              </a:tr>
            </a:tbl>
          </a:graphicData>
        </a:graphic>
      </p:graphicFrame>
      <p:sp>
        <p:nvSpPr>
          <p:cNvPr id="11" name="Rectangle 10"/>
          <p:cNvSpPr/>
          <p:nvPr/>
        </p:nvSpPr>
        <p:spPr>
          <a:xfrm>
            <a:off x="713232" y="4098771"/>
            <a:ext cx="3478682" cy="1140409"/>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750" b="1" i="0" spc="60">
                <a:solidFill>
                  <a:srgbClr val="B08800"/>
                </a:solidFill>
                <a:latin typeface="Consolas"/>
              </a:rPr>
              <a:t>WHY NOT EXACT-ONLY</a:t>
            </a:r>
          </a:p>
          <a:p>
            <a:pPr algn="l">
              <a:spcAft>
                <a:spcPts val="300"/>
              </a:spcAft>
            </a:pPr>
            <a:r>
              <a:rPr sz="980" b="0" i="0">
                <a:solidFill>
                  <a:srgbClr val="47586A"/>
                </a:solidFill>
                <a:latin typeface="Calibri"/>
              </a:rPr>
              <a:t>It misses the wanted vehicle whose plate came back one character wrong, </a:t>
            </a:r>
            <a:r>
              <a:rPr sz="980" b="1" i="0">
                <a:solidFill>
                  <a:srgbClr val="47586A"/>
                </a:solidFill>
                <a:latin typeface="Calibri"/>
              </a:rPr>
              <a:t>12.7% of reads</a:t>
            </a:r>
            <a:r>
              <a:rPr sz="980" b="0" i="0">
                <a:solidFill>
                  <a:srgbClr val="47586A"/>
                </a:solidFill>
                <a:latin typeface="Calibri"/>
              </a:rPr>
              <a:t>. A system that misses one in eight is not working.</a:t>
            </a:r>
          </a:p>
        </p:txBody>
      </p:sp>
      <p:sp>
        <p:nvSpPr>
          <p:cNvPr id="12" name="Rectangle 11"/>
          <p:cNvSpPr/>
          <p:nvPr/>
        </p:nvSpPr>
        <p:spPr>
          <a:xfrm>
            <a:off x="4429658" y="4098771"/>
            <a:ext cx="3478682" cy="1140409"/>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750" b="1" i="0" spc="60">
                <a:solidFill>
                  <a:srgbClr val="B08800"/>
                </a:solidFill>
                <a:latin typeface="Consolas"/>
              </a:rPr>
              <a:t>WHY NOT ANYTHING-CLOSE</a:t>
            </a:r>
          </a:p>
          <a:p>
            <a:pPr algn="l">
              <a:spcAft>
                <a:spcPts val="300"/>
              </a:spcAft>
            </a:pPr>
            <a:r>
              <a:rPr sz="980" b="0" i="0">
                <a:solidFill>
                  <a:srgbClr val="47586A"/>
                </a:solidFill>
                <a:latin typeface="Calibri"/>
              </a:rPr>
              <a:t>The operator is flooded and stops reading alerts, which is </a:t>
            </a:r>
            <a:r>
              <a:rPr sz="980" b="1" i="0">
                <a:solidFill>
                  <a:srgbClr val="47586A"/>
                </a:solidFill>
                <a:latin typeface="Calibri"/>
              </a:rPr>
              <a:t>worse than not alerting at all</a:t>
            </a:r>
            <a:r>
              <a:rPr sz="980" b="0" i="0">
                <a:solidFill>
                  <a:srgbClr val="47586A"/>
                </a:solidFill>
                <a:latin typeface="Calibri"/>
              </a:rPr>
              <a:t>.</a:t>
            </a:r>
          </a:p>
        </p:txBody>
      </p:sp>
      <p:sp>
        <p:nvSpPr>
          <p:cNvPr id="13" name="Rectangle 12"/>
          <p:cNvSpPr/>
          <p:nvPr/>
        </p:nvSpPr>
        <p:spPr>
          <a:xfrm>
            <a:off x="8146084" y="4098771"/>
            <a:ext cx="3478682" cy="1140409"/>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750" b="1" i="0" spc="60">
                <a:solidFill>
                  <a:srgbClr val="B08800"/>
                </a:solidFill>
                <a:latin typeface="Consolas"/>
              </a:rPr>
              <a:t>WHY CONFIDENCE SPLITS AN EXACT MATCH</a:t>
            </a:r>
          </a:p>
          <a:p>
            <a:pPr algn="l">
              <a:spcAft>
                <a:spcPts val="300"/>
              </a:spcAft>
            </a:pPr>
            <a:r>
              <a:rPr sz="980" b="0" i="0">
                <a:solidFill>
                  <a:srgbClr val="47586A"/>
                </a:solidFill>
                <a:latin typeface="Calibri"/>
              </a:rPr>
              <a:t>The same string at 0.4 and at 0.95 is different evidence. The tier is how the operator is told </a:t>
            </a:r>
            <a:r>
              <a:rPr sz="980" b="1" i="0">
                <a:solidFill>
                  <a:srgbClr val="47586A"/>
                </a:solidFill>
                <a:latin typeface="Calibri"/>
              </a:rPr>
              <a:t>which one they are looking at</a:t>
            </a:r>
            <a:r>
              <a:rPr sz="980" b="0" i="0">
                <a:solidFill>
                  <a:srgbClr val="47586A"/>
                </a:solidFill>
                <a:latin typeface="Calibri"/>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7A8A99"/>
                </a:solidFill>
                <a:latin typeface="Consolas"/>
              </a:rPr>
              <a:t>ELEMENT 5 OF 8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7A8A99"/>
                </a:solidFill>
                <a:latin typeface="Consolas"/>
              </a:rPr>
              <a:t>14</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7A8A99"/>
                </a:solidFill>
                <a:latin typeface="Consolas"/>
              </a:rPr>
              <a:t>REAL-TIME ALERTING</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0E1721"/>
                </a:solidFill>
                <a:latin typeface="Calibri"/>
              </a:rPr>
              <a:t>Detection to an operator's screen in 1.04 seconds</a:t>
            </a:r>
          </a:p>
        </p:txBody>
      </p:sp>
      <p:sp>
        <p:nvSpPr>
          <p:cNvPr id="7" name="Rectangle 6"/>
          <p:cNvSpPr/>
          <p:nvPr/>
        </p:nvSpPr>
        <p:spPr>
          <a:xfrm>
            <a:off x="713232" y="1285875"/>
            <a:ext cx="841248" cy="34925"/>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83675"/>
            <a:ext cx="5336895" cy="2066544"/>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wrap="none" tIns="64008" bIns="64008"/>
          <a:lstStyle/>
          <a:p>
            <a:pPr algn="l">
              <a:spcAft>
                <a:spcPts val="0"/>
              </a:spcAft>
            </a:pPr>
            <a:r>
              <a:rPr sz="700" b="0" i="0">
                <a:solidFill>
                  <a:srgbClr val="47586A"/>
                </a:solidFill>
                <a:latin typeface="Consolas"/>
              </a:rPr>
              <a:t>sighting</a:t>
            </a:r>
          </a:p>
          <a:p>
            <a:pPr algn="l">
              <a:spcAft>
                <a:spcPts val="0"/>
              </a:spcAft>
            </a:pPr>
            <a:r>
              <a:rPr sz="700" b="0" i="0">
                <a:solidFill>
                  <a:srgbClr val="47586A"/>
                </a:solidFill>
                <a:latin typeface="Consolas"/>
              </a:rPr>
              <a:t>     tier      confirmed   probable   possible</a:t>
            </a:r>
          </a:p>
          <a:p>
            <a:pPr algn="l">
              <a:spcAft>
                <a:spcPts val="0"/>
              </a:spcAft>
            </a:pPr>
            <a:r>
              <a:rPr sz="700" b="0" i="0">
                <a:solidFill>
                  <a:srgbClr val="47586A"/>
                </a:solidFill>
                <a:latin typeface="Consolas"/>
              </a:rPr>
              <a:t>     priority  severity − tier demotion</a:t>
            </a:r>
          </a:p>
          <a:p>
            <a:pPr algn="l">
              <a:spcAft>
                <a:spcPts val="0"/>
              </a:spcAft>
            </a:pPr>
            <a:r>
              <a:rPr sz="700" b="0" i="0">
                <a:solidFill>
                  <a:srgbClr val="47586A"/>
                </a:solidFill>
                <a:latin typeface="Consolas"/>
              </a:rPr>
              <a:t>     dedup     same plate, same camera, 120 s</a:t>
            </a:r>
          </a:p>
          <a:p>
            <a:pPr algn="l">
              <a:spcAft>
                <a:spcPts val="0"/>
              </a:spcAft>
            </a:pPr>
            <a:r>
              <a:rPr sz="700" b="0" i="0">
                <a:solidFill>
                  <a:srgbClr val="47586A"/>
                </a:solidFill>
                <a:latin typeface="Consolas"/>
              </a:rPr>
              <a:t>               ×3 for `possible` - a low-tier repeat</a:t>
            </a:r>
          </a:p>
          <a:p>
            <a:pPr algn="l">
              <a:spcAft>
                <a:spcPts val="0"/>
              </a:spcAft>
            </a:pPr>
            <a:r>
              <a:rPr sz="700" b="0" i="0">
                <a:solidFill>
                  <a:srgbClr val="47586A"/>
                </a:solidFill>
                <a:latin typeface="Consolas"/>
              </a:rPr>
              <a:t>               is far more likely a re-read than a</a:t>
            </a:r>
          </a:p>
          <a:p>
            <a:pPr algn="l">
              <a:spcAft>
                <a:spcPts val="0"/>
              </a:spcAft>
            </a:pPr>
            <a:r>
              <a:rPr sz="700" b="0" i="0">
                <a:solidFill>
                  <a:srgbClr val="47586A"/>
                </a:solidFill>
                <a:latin typeface="Consolas"/>
              </a:rPr>
              <a:t>               second event worth waking someone for</a:t>
            </a:r>
          </a:p>
          <a:p>
            <a:pPr algn="l">
              <a:spcAft>
                <a:spcPts val="0"/>
              </a:spcAft>
            </a:pPr>
            <a:r>
              <a:rPr sz="700" b="0" i="0">
                <a:solidFill>
                  <a:srgbClr val="47586A"/>
                </a:solidFill>
                <a:latin typeface="Consolas"/>
              </a:rPr>
              <a:t>     alert row - SAME TRANSACTION as the sighting</a:t>
            </a:r>
          </a:p>
          <a:p>
            <a:pPr algn="l">
              <a:spcAft>
                <a:spcPts val="0"/>
              </a:spcAft>
            </a:pPr>
            <a:r>
              <a:rPr sz="700" b="0" i="0">
                <a:solidFill>
                  <a:srgbClr val="47586A"/>
                </a:solidFill>
                <a:latin typeface="Consolas"/>
              </a:rPr>
              <a:t>     evidence  crop · plate read · confidence ·</a:t>
            </a:r>
          </a:p>
          <a:p>
            <a:pPr algn="l">
              <a:spcAft>
                <a:spcPts val="0"/>
              </a:spcAft>
            </a:pPr>
            <a:r>
              <a:rPr sz="700" b="0" i="0">
                <a:solidFill>
                  <a:srgbClr val="47586A"/>
                </a:solidFill>
                <a:latin typeface="Consolas"/>
              </a:rPr>
              <a:t>               matched record · case ref · camera ·</a:t>
            </a:r>
          </a:p>
          <a:p>
            <a:pPr algn="l">
              <a:spcAft>
                <a:spcPts val="0"/>
              </a:spcAft>
            </a:pPr>
            <a:r>
              <a:rPr sz="700" b="0" i="0">
                <a:solidFill>
                  <a:srgbClr val="47586A"/>
                </a:solidFill>
                <a:latin typeface="Consolas"/>
              </a:rPr>
              <a:t>               district · lat/lon · measured latency</a:t>
            </a:r>
          </a:p>
          <a:p>
            <a:pPr algn="l">
              <a:spcAft>
                <a:spcPts val="0"/>
              </a:spcAft>
            </a:pPr>
            <a:r>
              <a:rPr sz="700" b="0" i="0">
                <a:solidFill>
                  <a:srgbClr val="47586A"/>
                </a:solidFill>
                <a:latin typeface="Consolas"/>
              </a:rPr>
              <a:t>     states    new → acknowledged → actioned</a:t>
            </a:r>
          </a:p>
          <a:p>
            <a:pPr algn="l">
              <a:spcAft>
                <a:spcPts val="0"/>
              </a:spcAft>
            </a:pPr>
            <a:r>
              <a:rPr sz="700" b="0" i="0">
                <a:solidFill>
                  <a:srgbClr val="47586A"/>
                </a:solidFill>
                <a:latin typeface="Consolas"/>
              </a:rPr>
              <a:t>                                 → dismissed</a:t>
            </a:r>
          </a:p>
        </p:txBody>
      </p:sp>
      <p:sp>
        <p:nvSpPr>
          <p:cNvPr id="9" name="TextBox 8"/>
          <p:cNvSpPr txBox="1"/>
          <p:nvPr/>
        </p:nvSpPr>
        <p:spPr>
          <a:xfrm>
            <a:off x="6287871" y="1883675"/>
            <a:ext cx="2668447" cy="640080"/>
          </a:xfrm>
          <a:prstGeom prst="rect">
            <a:avLst/>
          </a:prstGeom>
          <a:noFill/>
        </p:spPr>
        <p:txBody>
          <a:bodyPr wrap="square" lIns="0" rIns="0" tIns="0" bIns="0">
            <a:spAutoFit/>
          </a:bodyPr>
          <a:lstStyle/>
          <a:p>
            <a:r>
              <a:rPr sz="3000" b="1" i="0">
                <a:solidFill>
                  <a:srgbClr val="12508F"/>
                </a:solidFill>
                <a:latin typeface="Calibri"/>
              </a:rPr>
              <a:t>1.04 s</a:t>
            </a:r>
          </a:p>
          <a:p>
            <a:r>
              <a:rPr sz="750" b="0" i="0" spc="60">
                <a:solidFill>
                  <a:srgbClr val="7A8A99"/>
                </a:solidFill>
                <a:latin typeface="Consolas"/>
              </a:rPr>
              <a:t>MEASURED</a:t>
            </a:r>
          </a:p>
        </p:txBody>
      </p:sp>
      <p:sp>
        <p:nvSpPr>
          <p:cNvPr id="10" name="TextBox 9"/>
          <p:cNvSpPr txBox="1"/>
          <p:nvPr/>
        </p:nvSpPr>
        <p:spPr>
          <a:xfrm>
            <a:off x="8956318" y="1883675"/>
            <a:ext cx="2668447" cy="640080"/>
          </a:xfrm>
          <a:prstGeom prst="rect">
            <a:avLst/>
          </a:prstGeom>
          <a:noFill/>
        </p:spPr>
        <p:txBody>
          <a:bodyPr wrap="square" lIns="0" rIns="0" tIns="0" bIns="0">
            <a:spAutoFit/>
          </a:bodyPr>
          <a:lstStyle/>
          <a:p>
            <a:r>
              <a:rPr sz="3000" b="1" i="0">
                <a:solidFill>
                  <a:srgbClr val="12508F"/>
                </a:solidFill>
                <a:latin typeface="Calibri"/>
              </a:rPr>
              <a:t>5 s</a:t>
            </a:r>
          </a:p>
          <a:p>
            <a:r>
              <a:rPr sz="750" b="0" i="0" spc="60">
                <a:solidFill>
                  <a:srgbClr val="7A8A99"/>
                </a:solidFill>
                <a:latin typeface="Consolas"/>
              </a:rPr>
              <a:t>BUDGET</a:t>
            </a:r>
          </a:p>
        </p:txBody>
      </p:sp>
      <p:sp>
        <p:nvSpPr>
          <p:cNvPr id="11" name="Rectangle 10"/>
          <p:cNvSpPr/>
          <p:nvPr/>
        </p:nvSpPr>
        <p:spPr>
          <a:xfrm>
            <a:off x="6287871" y="2798075"/>
            <a:ext cx="5336895" cy="1223568"/>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750" b="1" i="0" spc="60">
                <a:solidFill>
                  <a:srgbClr val="B08800"/>
                </a:solidFill>
                <a:latin typeface="Consolas"/>
              </a:rPr>
              <a:t>CONSEQUENCE ONE</a:t>
            </a:r>
          </a:p>
          <a:p>
            <a:pPr algn="l">
              <a:spcAft>
                <a:spcPts val="400"/>
              </a:spcAft>
            </a:pPr>
            <a:r>
              <a:rPr sz="1200" b="1" i="0">
                <a:solidFill>
                  <a:srgbClr val="0E1721"/>
                </a:solidFill>
                <a:latin typeface="Calibri"/>
              </a:rPr>
              <a:t>Both rows commit, or neither does</a:t>
            </a:r>
          </a:p>
          <a:p>
            <a:pPr algn="l">
              <a:spcAft>
                <a:spcPts val="300"/>
              </a:spcAft>
            </a:pPr>
            <a:r>
              <a:rPr sz="980" b="0" i="0">
                <a:solidFill>
                  <a:srgbClr val="47586A"/>
                </a:solidFill>
                <a:latin typeface="Calibri"/>
              </a:rPr>
              <a:t>The time-series store cannot enforce that foreign key, so the transaction enforces it structurally: </a:t>
            </a:r>
            <a:r>
              <a:rPr sz="980" b="1" i="0">
                <a:solidFill>
                  <a:srgbClr val="47586A"/>
                </a:solidFill>
                <a:latin typeface="Calibri"/>
              </a:rPr>
              <a:t>an alert can never point at a sighting that does not exist.</a:t>
            </a:r>
          </a:p>
        </p:txBody>
      </p:sp>
      <p:sp>
        <p:nvSpPr>
          <p:cNvPr id="12" name="Rectangle 11"/>
          <p:cNvSpPr/>
          <p:nvPr/>
        </p:nvSpPr>
        <p:spPr>
          <a:xfrm>
            <a:off x="6287871" y="4195379"/>
            <a:ext cx="5336895" cy="1223568"/>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750" b="1" i="0" spc="60">
                <a:solidFill>
                  <a:srgbClr val="B08800"/>
                </a:solidFill>
                <a:latin typeface="Consolas"/>
              </a:rPr>
              <a:t>CONSEQUENCE TWO</a:t>
            </a:r>
          </a:p>
          <a:p>
            <a:pPr algn="l">
              <a:spcAft>
                <a:spcPts val="400"/>
              </a:spcAft>
            </a:pPr>
            <a:r>
              <a:rPr sz="1200" b="1" i="0">
                <a:solidFill>
                  <a:srgbClr val="0E1721"/>
                </a:solidFill>
                <a:latin typeface="Calibri"/>
              </a:rPr>
              <a:t>There is no delete</a:t>
            </a:r>
          </a:p>
          <a:p>
            <a:pPr algn="l">
              <a:spcAft>
                <a:spcPts val="300"/>
              </a:spcAft>
            </a:pPr>
            <a:r>
              <a:rPr sz="980" b="0" i="0">
                <a:solidFill>
                  <a:srgbClr val="47586A"/>
                </a:solidFill>
                <a:latin typeface="Calibri"/>
              </a:rPr>
              <a:t>dismissed</a:t>
            </a:r>
            <a:r>
              <a:rPr sz="980" b="0" i="0">
                <a:solidFill>
                  <a:srgbClr val="47586A"/>
                </a:solidFill>
                <a:latin typeface="Calibri"/>
              </a:rPr>
              <a:t> and </a:t>
            </a:r>
            <a:r>
              <a:rPr sz="980" b="0" i="0">
                <a:solidFill>
                  <a:srgbClr val="47586A"/>
                </a:solidFill>
                <a:latin typeface="Calibri"/>
              </a:rPr>
              <a:t>false_positive</a:t>
            </a:r>
            <a:r>
              <a:rPr sz="980" b="0" i="0">
                <a:solidFill>
                  <a:srgbClr val="47586A"/>
                </a:solidFill>
                <a:latin typeface="Calibri"/>
              </a:rPr>
              <a:t> are statuses. An alert an operator judged wrong is itself evidence, of the error rate, and of the decision taken.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7A8A99"/>
                </a:solidFill>
                <a:latin typeface="Consolas"/>
              </a:rPr>
              <a:t>ELEMENT 6 OF 8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7A8A99"/>
                </a:solidFill>
                <a:latin typeface="Consolas"/>
              </a:rPr>
              <a:t>15</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7A8A99"/>
                </a:solidFill>
                <a:latin typeface="Consolas"/>
              </a:rPr>
              <a:t>KEY TECHNOLOGIES, FRAMEWORKS AND TOOLS</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0E1721"/>
                </a:solidFill>
                <a:latin typeface="Calibri"/>
              </a:rPr>
              <a:t>Every choice has a reason, and the deviations are named</a:t>
            </a:r>
          </a:p>
        </p:txBody>
      </p:sp>
      <p:sp>
        <p:nvSpPr>
          <p:cNvPr id="7" name="Rectangle 6"/>
          <p:cNvSpPr/>
          <p:nvPr/>
        </p:nvSpPr>
        <p:spPr>
          <a:xfrm>
            <a:off x="713232" y="1285875"/>
            <a:ext cx="841248" cy="34925"/>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713232" y="2259977"/>
          <a:ext cx="10911533" cy="2468880"/>
        </p:xfrm>
        <a:graphic>
          <a:graphicData uri="http://schemas.openxmlformats.org/drawingml/2006/table">
            <a:tbl>
              <a:tblPr>
                <a:tableStyleId>{5C22544A-7EE6-4342-B048-85BDC9FD1C3A}</a:tableStyleId>
              </a:tblPr>
              <a:tblGrid>
                <a:gridCol w="1356134"/>
                <a:gridCol w="2870497"/>
                <a:gridCol w="6684902"/>
              </a:tblGrid>
              <a:tr h="274320">
                <a:tc>
                  <a:txBody>
                    <a:bodyPr wrap="square"/>
                    <a:lstStyle/>
                    <a:p>
                      <a:r>
                        <a:rPr sz="800" b="1" i="0">
                          <a:solidFill>
                            <a:srgbClr val="7A8A99"/>
                          </a:solidFill>
                          <a:latin typeface="Consolas"/>
                        </a:rPr>
                        <a:t>LAYER</a:t>
                      </a:r>
                    </a:p>
                  </a:txBody>
                  <a:tcPr marL="64008" marR="64008" marT="41148" marB="41148" anchor="t">
                    <a:solidFill>
                      <a:srgbClr val="FFFFFF"/>
                    </a:solidFill>
                    <a:lnL w="0">
                      <a:noFill/>
                    </a:lnL>
                    <a:lnR w="0">
                      <a:noFill/>
                    </a:lnR>
                    <a:lnT w="0">
                      <a:noFill/>
                    </a:lnT>
                    <a:lnB w="12700" cap="flat" cmpd="sng" algn="ctr">
                      <a:solidFill>
                        <a:srgbClr val="12508F"/>
                      </a:solidFill>
                    </a:lnB>
                  </a:tcPr>
                </a:tc>
                <a:tc>
                  <a:txBody>
                    <a:bodyPr wrap="square"/>
                    <a:lstStyle/>
                    <a:p>
                      <a:r>
                        <a:rPr sz="800" b="1" i="0">
                          <a:solidFill>
                            <a:srgbClr val="7A8A99"/>
                          </a:solidFill>
                          <a:latin typeface="Consolas"/>
                        </a:rPr>
                        <a:t>CHOICE</a:t>
                      </a:r>
                    </a:p>
                  </a:txBody>
                  <a:tcPr marL="64008" marR="64008" marT="41148" marB="41148" anchor="t">
                    <a:solidFill>
                      <a:srgbClr val="FFFFFF"/>
                    </a:solidFill>
                    <a:lnL w="0">
                      <a:noFill/>
                    </a:lnL>
                    <a:lnR w="0">
                      <a:noFill/>
                    </a:lnR>
                    <a:lnT w="0">
                      <a:noFill/>
                    </a:lnT>
                    <a:lnB w="12700" cap="flat" cmpd="sng" algn="ctr">
                      <a:solidFill>
                        <a:srgbClr val="12508F"/>
                      </a:solidFill>
                    </a:lnB>
                  </a:tcPr>
                </a:tc>
                <a:tc>
                  <a:txBody>
                    <a:bodyPr wrap="square"/>
                    <a:lstStyle/>
                    <a:p>
                      <a:r>
                        <a:rPr sz="800" b="1" i="0">
                          <a:solidFill>
                            <a:srgbClr val="7A8A99"/>
                          </a:solidFill>
                          <a:latin typeface="Consolas"/>
                        </a:rPr>
                        <a:t>WHY THIS ONE</a:t>
                      </a:r>
                    </a:p>
                  </a:txBody>
                  <a:tcPr marL="64008" marR="64008" marT="41148" marB="41148" anchor="t">
                    <a:solidFill>
                      <a:srgbClr val="FFFFFF"/>
                    </a:solidFill>
                    <a:lnL w="0">
                      <a:noFill/>
                    </a:lnL>
                    <a:lnR w="0">
                      <a:noFill/>
                    </a:lnR>
                    <a:lnT w="0">
                      <a:noFill/>
                    </a:lnT>
                    <a:lnB w="12700" cap="flat" cmpd="sng" algn="ctr">
                      <a:solidFill>
                        <a:srgbClr val="12508F"/>
                      </a:solidFill>
                    </a:lnB>
                  </a:tcPr>
                </a:tc>
              </a:tr>
              <a:tr h="274320">
                <a:tc>
                  <a:txBody>
                    <a:bodyPr wrap="square"/>
                    <a:lstStyle/>
                    <a:p>
                      <a:r>
                        <a:rPr sz="900" b="0" i="0">
                          <a:solidFill>
                            <a:srgbClr val="47586A"/>
                          </a:solidFill>
                          <a:latin typeface="Calibri"/>
                        </a:rPr>
                        <a:t>Store</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1" i="0">
                          <a:solidFill>
                            <a:srgbClr val="47586A"/>
                          </a:solidFill>
                          <a:latin typeface="Calibri"/>
                        </a:rPr>
                        <a:t>TimescaleDB</a:t>
                      </a:r>
                      <a:r>
                        <a:rPr sz="900" b="0" i="0">
                          <a:solidFill>
                            <a:srgbClr val="47586A"/>
                          </a:solidFill>
                          <a:latin typeface="Calibri"/>
                        </a:rPr>
                        <a:t> </a:t>
                      </a:r>
                      <a:r>
                        <a:rPr sz="900" b="0" i="0">
                          <a:solidFill>
                            <a:srgbClr val="47586A"/>
                          </a:solidFill>
                          <a:latin typeface="Calibri"/>
                        </a:rPr>
                        <a:t>(PostgreSQL + PostGIS)</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Registry, geospatial and time-series in </a:t>
                      </a:r>
                      <a:r>
                        <a:rPr sz="900" b="1" i="0">
                          <a:solidFill>
                            <a:srgbClr val="47586A"/>
                          </a:solidFill>
                          <a:latin typeface="Calibri"/>
                        </a:rPr>
                        <a:t>one</a:t>
                      </a:r>
                      <a:r>
                        <a:rPr sz="900" b="0" i="0">
                          <a:solidFill>
                            <a:srgbClr val="47586A"/>
                          </a:solidFill>
                          <a:latin typeface="Calibri"/>
                        </a:rPr>
                        <a:t> database, removes a distributed-consistency problem we do not need</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0" i="0">
                          <a:solidFill>
                            <a:srgbClr val="47586A"/>
                          </a:solidFill>
                          <a:latin typeface="Calibri"/>
                        </a:rPr>
                        <a:t>Plate search</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1" i="0">
                          <a:solidFill>
                            <a:srgbClr val="47586A"/>
                          </a:solidFill>
                          <a:latin typeface="Calibri"/>
                        </a:rPr>
                        <a:t>pg_trgm</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Sufficient at this scale; a search cluster is the scale path, not the starting point</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0" i="0">
                          <a:solidFill>
                            <a:srgbClr val="47586A"/>
                          </a:solidFill>
                          <a:latin typeface="Calibri"/>
                        </a:rPr>
                        <a:t>Vectors</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1" i="0">
                          <a:solidFill>
                            <a:srgbClr val="47586A"/>
                          </a:solidFill>
                          <a:latin typeface="Calibri"/>
                        </a:rPr>
                        <a:t>pgvector</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Vehicle appearance search (DINOv2-small, 384 numbers) inside the database already present</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0" i="0">
                          <a:solidFill>
                            <a:srgbClr val="47586A"/>
                          </a:solidFill>
                          <a:latin typeface="Calibri"/>
                        </a:rPr>
                        <a:t>Media</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1" i="0">
                          <a:solidFill>
                            <a:srgbClr val="47586A"/>
                          </a:solidFill>
                          <a:latin typeface="Calibri"/>
                        </a:rPr>
                        <a:t>MediaMTX</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RTSP in, WebRTC/HLS out, the relay the brief already anticipates</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0" i="0">
                          <a:solidFill>
                            <a:srgbClr val="47586A"/>
                          </a:solidFill>
                          <a:latin typeface="Calibri"/>
                        </a:rPr>
                        <a:t>Events</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1" i="0">
                          <a:solidFill>
                            <a:srgbClr val="47586A"/>
                          </a:solidFill>
                          <a:latin typeface="Calibri"/>
                        </a:rPr>
                        <a:t>Redpanda</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Kafka wire protocol, single binary, no ZooKeeper</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0" i="0">
                          <a:solidFill>
                            <a:srgbClr val="47586A"/>
                          </a:solidFill>
                          <a:latin typeface="Calibri"/>
                        </a:rPr>
                        <a:t>Routing</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1" i="0">
                          <a:solidFill>
                            <a:srgbClr val="47586A"/>
                          </a:solidFill>
                          <a:latin typeface="Calibri"/>
                        </a:rPr>
                        <a:t>OSRM</a:t>
                      </a:r>
                      <a:r>
                        <a:rPr sz="900" b="0" i="0">
                          <a:solidFill>
                            <a:srgbClr val="47586A"/>
                          </a:solidFill>
                          <a:latin typeface="Calibri"/>
                        </a:rPr>
                        <a:t> + Gujarat OSM extract</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Road-network snapping and travel-time plausibility</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0" i="0">
                          <a:solidFill>
                            <a:srgbClr val="47586A"/>
                          </a:solidFill>
                          <a:latin typeface="Calibri"/>
                        </a:rPr>
                        <a:t>API</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1" i="0">
                          <a:solidFill>
                            <a:srgbClr val="47586A"/>
                          </a:solidFill>
                          <a:latin typeface="Calibri"/>
                        </a:rPr>
                        <a:t>FastAPI</a:t>
                      </a:r>
                      <a:r>
                        <a:rPr sz="900" b="0" i="0">
                          <a:solidFill>
                            <a:srgbClr val="47586A"/>
                          </a:solidFill>
                          <a:latin typeface="Calibri"/>
                        </a:rPr>
                        <a:t> + OpenAPI</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Documented and browsable, integration-ready by construction</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0" i="0">
                          <a:solidFill>
                            <a:srgbClr val="47586A"/>
                          </a:solidFill>
                          <a:latin typeface="Calibri"/>
                        </a:rPr>
                        <a:t>Map</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1" i="0">
                          <a:solidFill>
                            <a:srgbClr val="47586A"/>
                          </a:solidFill>
                          <a:latin typeface="Calibri"/>
                        </a:rPr>
                        <a:t>MapLibre GL</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GPU-rendered. Leaflet's DOM markers do not survive statewide density, and 80,000 points is the claim</a:t>
                      </a:r>
                    </a:p>
                  </a:txBody>
                  <a:tcPr marL="64008" marR="64008" marT="41148" marB="41148" anchor="t">
                    <a:solidFill>
                      <a:srgbClr val="FFFFFF"/>
                    </a:solidFill>
                    <a:lnL w="0">
                      <a:noFill/>
                    </a:lnL>
                    <a:lnR w="0">
                      <a:noFill/>
                    </a:lnR>
                    <a:lnT w="0">
                      <a:noFill/>
                    </a:lnT>
                    <a:lnB w="6350" cap="flat" cmpd="sng" algn="ctr">
                      <a:solidFill>
                        <a:srgbClr val="DCE3E8"/>
                      </a:solidFill>
                    </a:lnB>
                  </a:tcPr>
                </a:tc>
              </a:tr>
            </a:tbl>
          </a:graphicData>
        </a:graphic>
      </p:graphicFrame>
      <p:sp>
        <p:nvSpPr>
          <p:cNvPr id="9" name="Rectangle 8"/>
          <p:cNvSpPr/>
          <p:nvPr/>
        </p:nvSpPr>
        <p:spPr>
          <a:xfrm>
            <a:off x="713232" y="591032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6001766"/>
            <a:ext cx="10911535" cy="274320"/>
          </a:xfrm>
          <a:prstGeom prst="rect">
            <a:avLst/>
          </a:prstGeom>
          <a:noFill/>
        </p:spPr>
        <p:txBody>
          <a:bodyPr wrap="square" lIns="0" rIns="0" tIns="0" bIns="0">
            <a:spAutoFit/>
          </a:bodyPr>
          <a:lstStyle/>
          <a:p>
            <a:r>
              <a:rPr sz="850" b="1" i="0">
                <a:solidFill>
                  <a:srgbClr val="7A8A99"/>
                </a:solidFill>
                <a:latin typeface="Consolas"/>
              </a:rPr>
              <a:t>Justified deviations from the suggested stack:</a:t>
            </a:r>
            <a:r>
              <a:rPr sz="850" b="0" i="0">
                <a:solidFill>
                  <a:srgbClr val="7A8A99"/>
                </a:solidFill>
                <a:latin typeface="Consolas"/>
              </a:rPr>
              <a:t> MapLibre over Leaflet, TimescaleDB + trigram over Elasticsearch, Redpanda over Kafka. Each is stated with its reason, because unexplained deviation is penalised and justified deviation is not.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7A8A99"/>
                </a:solidFill>
                <a:latin typeface="Consolas"/>
              </a:rPr>
              <a:t>ELEMENT 7 OF 8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7A8A99"/>
                </a:solidFill>
                <a:latin typeface="Consolas"/>
              </a:rPr>
              <a:t>16</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7A8A99"/>
                </a:solidFill>
                <a:latin typeface="Consolas"/>
              </a:rPr>
              <a:t>SCALABILITY AT 80,000 CAMERAS</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0E1721"/>
                </a:solidFill>
                <a:latin typeface="Calibri"/>
              </a:rPr>
              <a:t>The sizing number is measured, and so is what breaks it</a:t>
            </a:r>
          </a:p>
        </p:txBody>
      </p:sp>
      <p:sp>
        <p:nvSpPr>
          <p:cNvPr id="7" name="Rectangle 6"/>
          <p:cNvSpPr/>
          <p:nvPr/>
        </p:nvSpPr>
        <p:spPr>
          <a:xfrm>
            <a:off x="713232" y="1285875"/>
            <a:ext cx="841248" cy="34925"/>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65902"/>
            <a:ext cx="31750" cy="588772"/>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65902"/>
            <a:ext cx="10765231" cy="588772"/>
          </a:xfrm>
          <a:prstGeom prst="rect">
            <a:avLst/>
          </a:prstGeom>
          <a:noFill/>
        </p:spPr>
        <p:txBody>
          <a:bodyPr wrap="square" lIns="0" rIns="0" tIns="0" bIns="0">
            <a:spAutoFit/>
          </a:bodyPr>
          <a:lstStyle/>
          <a:p>
            <a:pPr>
              <a:spcAft>
                <a:spcPts val="400"/>
              </a:spcAft>
            </a:pPr>
            <a:r>
              <a:rPr sz="1300" b="1" i="0">
                <a:solidFill>
                  <a:srgbClr val="0E1721"/>
                </a:solidFill>
                <a:latin typeface="Calibri"/>
              </a:rPr>
              <a:t>50 to 57 cameras per 20-core box.</a:t>
            </a:r>
            <a:r>
              <a:rPr sz="1300" b="0" i="0">
                <a:solidFill>
                  <a:srgbClr val="0E1721"/>
                </a:solidFill>
                <a:latin typeface="Calibri"/>
              </a:rPr>
              <a:t> At 57 cameras, recognition p50 was </a:t>
            </a:r>
            <a:r>
              <a:rPr sz="1300" b="0" i="0">
                <a:solidFill>
                  <a:srgbClr val="1F7A52"/>
                </a:solidFill>
                <a:latin typeface="Calibri"/>
              </a:rPr>
              <a:t>624 ms</a:t>
            </a:r>
            <a:r>
              <a:rPr sz="1300" b="0" i="0">
                <a:solidFill>
                  <a:srgbClr val="0E1721"/>
                </a:solidFill>
                <a:latin typeface="Calibri"/>
              </a:rPr>
              <a:t> with a healthy 6.1% shed. At 76 cameras the same box shed </a:t>
            </a:r>
            <a:r>
              <a:rPr sz="1300" b="0" i="0">
                <a:solidFill>
                  <a:srgbClr val="B23A2F"/>
                </a:solidFill>
                <a:latin typeface="Calibri"/>
              </a:rPr>
              <a:t>94.7%</a:t>
            </a:r>
            <a:r>
              <a:rPr sz="1300" b="0" i="0">
                <a:solidFill>
                  <a:srgbClr val="0E1721"/>
                </a:solidFill>
                <a:latin typeface="Calibri"/>
              </a:rPr>
              <a:t> and p50 rose to 3.4 s.</a:t>
            </a:r>
          </a:p>
        </p:txBody>
      </p:sp>
      <p:graphicFrame>
        <p:nvGraphicFramePr>
          <p:cNvPr id="10" name="Table 9"/>
          <p:cNvGraphicFramePr>
            <a:graphicFrameLocks noGrp="1"/>
          </p:cNvGraphicFramePr>
          <p:nvPr/>
        </p:nvGraphicFramePr>
        <p:xfrm>
          <a:off x="713232" y="2655842"/>
          <a:ext cx="5336894" cy="1645920"/>
        </p:xfrm>
        <a:graphic>
          <a:graphicData uri="http://schemas.openxmlformats.org/drawingml/2006/table">
            <a:tbl>
              <a:tblPr>
                <a:tableStyleId>{5C22544A-7EE6-4342-B048-85BDC9FD1C3A}</a:tableStyleId>
              </a:tblPr>
              <a:tblGrid>
                <a:gridCol w="2107435"/>
                <a:gridCol w="2107435"/>
                <a:gridCol w="1122024"/>
              </a:tblGrid>
              <a:tr h="274320">
                <a:tc>
                  <a:txBody>
                    <a:bodyPr wrap="square"/>
                    <a:lstStyle/>
                    <a:p>
                      <a:r>
                        <a:rPr sz="800" b="1" i="0">
                          <a:solidFill>
                            <a:srgbClr val="7A8A99"/>
                          </a:solidFill>
                          <a:latin typeface="Consolas"/>
                        </a:rPr>
                        <a:t>QUANTITY</a:t>
                      </a:r>
                    </a:p>
                  </a:txBody>
                  <a:tcPr marL="64008" marR="64008" marT="41148" marB="41148" anchor="t">
                    <a:solidFill>
                      <a:srgbClr val="FFFFFF"/>
                    </a:solidFill>
                    <a:lnL w="0">
                      <a:noFill/>
                    </a:lnL>
                    <a:lnR w="0">
                      <a:noFill/>
                    </a:lnR>
                    <a:lnT w="0">
                      <a:noFill/>
                    </a:lnT>
                    <a:lnB w="12700" cap="flat" cmpd="sng" algn="ctr">
                      <a:solidFill>
                        <a:srgbClr val="12508F"/>
                      </a:solidFill>
                    </a:lnB>
                  </a:tcPr>
                </a:tc>
                <a:tc>
                  <a:txBody>
                    <a:bodyPr wrap="square"/>
                    <a:lstStyle/>
                    <a:p>
                      <a:r>
                        <a:rPr sz="800" b="1" i="0">
                          <a:solidFill>
                            <a:srgbClr val="7A8A99"/>
                          </a:solidFill>
                          <a:latin typeface="Consolas"/>
                        </a:rPr>
                        <a:t>ARITHMETIC</a:t>
                      </a:r>
                    </a:p>
                  </a:txBody>
                  <a:tcPr marL="64008" marR="64008" marT="41148" marB="41148" anchor="t">
                    <a:solidFill>
                      <a:srgbClr val="FFFFFF"/>
                    </a:solidFill>
                    <a:lnL w="0">
                      <a:noFill/>
                    </a:lnL>
                    <a:lnR w="0">
                      <a:noFill/>
                    </a:lnR>
                    <a:lnT w="0">
                      <a:noFill/>
                    </a:lnT>
                    <a:lnB w="12700" cap="flat" cmpd="sng" algn="ctr">
                      <a:solidFill>
                        <a:srgbClr val="12508F"/>
                      </a:solidFill>
                    </a:lnB>
                  </a:tcPr>
                </a:tc>
                <a:tc>
                  <a:txBody>
                    <a:bodyPr wrap="square"/>
                    <a:lstStyle/>
                    <a:p>
                      <a:pPr algn="r"/>
                      <a:r>
                        <a:rPr sz="800" b="1" i="0">
                          <a:solidFill>
                            <a:srgbClr val="7A8A99"/>
                          </a:solidFill>
                          <a:latin typeface="Consolas"/>
                        </a:rPr>
                        <a:t>RESULT</a:t>
                      </a:r>
                    </a:p>
                  </a:txBody>
                  <a:tcPr marL="64008" marR="64008" marT="41148" marB="41148" anchor="t">
                    <a:solidFill>
                      <a:srgbClr val="FFFFFF"/>
                    </a:solidFill>
                    <a:lnL w="0">
                      <a:noFill/>
                    </a:lnL>
                    <a:lnR w="0">
                      <a:noFill/>
                    </a:lnR>
                    <a:lnT w="0">
                      <a:noFill/>
                    </a:lnT>
                    <a:lnB w="12700" cap="flat" cmpd="sng" algn="ctr">
                      <a:solidFill>
                        <a:srgbClr val="12508F"/>
                      </a:solidFill>
                    </a:lnB>
                  </a:tcPr>
                </a:tc>
              </a:tr>
              <a:tr h="274320">
                <a:tc>
                  <a:txBody>
                    <a:bodyPr wrap="square"/>
                    <a:lstStyle/>
                    <a:p>
                      <a:r>
                        <a:rPr sz="900" b="0" i="0">
                          <a:solidFill>
                            <a:srgbClr val="47586A"/>
                          </a:solidFill>
                          <a:latin typeface="Calibri"/>
                        </a:rPr>
                        <a:t>Nodes for 80,000 cameras</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80,000 ÷ 50</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1" i="0">
                          <a:solidFill>
                            <a:srgbClr val="47586A"/>
                          </a:solidFill>
                          <a:latin typeface="Calibri"/>
                        </a:rPr>
                        <a:t>1,600</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0" i="0">
                          <a:solidFill>
                            <a:srgbClr val="47586A"/>
                          </a:solidFill>
                          <a:latin typeface="Calibri"/>
                        </a:rPr>
                        <a:t>Per district</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1,600 ÷ 33</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1" i="0">
                          <a:solidFill>
                            <a:srgbClr val="47586A"/>
                          </a:solidFill>
                          <a:latin typeface="Calibri"/>
                        </a:rPr>
                        <a:t>~48</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0" i="0">
                          <a:solidFill>
                            <a:srgbClr val="47586A"/>
                          </a:solidFill>
                          <a:latin typeface="Calibri"/>
                        </a:rPr>
                        <a:t>Sightings/day</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80,000 × 1.5/min × 1,440</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1" i="0">
                          <a:solidFill>
                            <a:srgbClr val="47586A"/>
                          </a:solidFill>
                          <a:latin typeface="Calibri"/>
                        </a:rPr>
                        <a:t>~173 M</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0" i="0">
                          <a:solidFill>
                            <a:srgbClr val="47586A"/>
                          </a:solidFill>
                          <a:latin typeface="Calibri"/>
                        </a:rPr>
                        <a:t>Compressed rows/day</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173 M × 300 B ÷ 10</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1" i="0">
                          <a:solidFill>
                            <a:srgbClr val="47586A"/>
                          </a:solidFill>
                          <a:latin typeface="Calibri"/>
                        </a:rPr>
                        <a:t>~5 GB</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0" i="0">
                          <a:solidFill>
                            <a:srgbClr val="47586A"/>
                          </a:solidFill>
                          <a:latin typeface="Calibri"/>
                        </a:rPr>
                        <a:t>Metadata backhaul</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80,000 × 0.5 kbit/s</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pPr algn="r"/>
                      <a:r>
                        <a:rPr sz="900" b="1" i="0">
                          <a:solidFill>
                            <a:srgbClr val="47586A"/>
                          </a:solidFill>
                          <a:latin typeface="Calibri"/>
                        </a:rPr>
                        <a:t>~40 Mbit/s</a:t>
                      </a:r>
                    </a:p>
                  </a:txBody>
                  <a:tcPr marL="64008" marR="64008" marT="41148" marB="41148" anchor="t">
                    <a:solidFill>
                      <a:srgbClr val="FFFFFF"/>
                    </a:solidFill>
                    <a:lnL w="0">
                      <a:noFill/>
                    </a:lnL>
                    <a:lnR w="0">
                      <a:noFill/>
                    </a:lnR>
                    <a:lnT w="0">
                      <a:noFill/>
                    </a:lnT>
                    <a:lnB w="6350" cap="flat" cmpd="sng" algn="ctr">
                      <a:solidFill>
                        <a:srgbClr val="DCE3E8"/>
                      </a:solidFill>
                    </a:lnB>
                  </a:tcPr>
                </a:tc>
              </a:tr>
            </a:tbl>
          </a:graphicData>
        </a:graphic>
      </p:graphicFrame>
      <p:sp>
        <p:nvSpPr>
          <p:cNvPr id="11" name="Rectangle 10"/>
          <p:cNvSpPr/>
          <p:nvPr/>
        </p:nvSpPr>
        <p:spPr>
          <a:xfrm>
            <a:off x="6287871" y="2655842"/>
            <a:ext cx="5336895" cy="1390345"/>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750" b="1" i="0" spc="60">
                <a:solidFill>
                  <a:srgbClr val="B08800"/>
                </a:solidFill>
                <a:latin typeface="Consolas"/>
              </a:rPr>
              <a:t>WHY 1,600 IS NOT FRIGHTENING</a:t>
            </a:r>
          </a:p>
          <a:p>
            <a:pPr algn="l">
              <a:spcAft>
                <a:spcPts val="400"/>
              </a:spcAft>
            </a:pPr>
            <a:r>
              <a:rPr sz="1200" b="1" i="0">
                <a:solidFill>
                  <a:srgbClr val="0E1721"/>
                </a:solidFill>
                <a:latin typeface="Calibri"/>
              </a:rPr>
              <a:t>Arithmetic, not a distributed-systems project</a:t>
            </a:r>
          </a:p>
          <a:p>
            <a:pPr algn="l">
              <a:spcAft>
                <a:spcPts val="300"/>
              </a:spcAft>
            </a:pPr>
            <a:r>
              <a:rPr sz="980" b="0" i="0">
                <a:solidFill>
                  <a:srgbClr val="47586A"/>
                </a:solidFill>
                <a:latin typeface="Calibri"/>
              </a:rPr>
              <a:t>Workers claim a shard with a database advisory lock, </a:t>
            </a:r>
            <a:r>
              <a:rPr sz="980" b="1" i="0">
                <a:solidFill>
                  <a:srgbClr val="47586A"/>
                </a:solidFill>
                <a:latin typeface="Calibri"/>
              </a:rPr>
              <a:t>no orchestrator, no leader election, no per-replica configuration</a:t>
            </a:r>
            <a:r>
              <a:rPr sz="980" b="0" i="0">
                <a:solidFill>
                  <a:srgbClr val="47586A"/>
                </a:solidFill>
                <a:latin typeface="Calibri"/>
              </a:rPr>
              <a:t>, and a crashed worker returns its shard the instant its connection drops.</a:t>
            </a:r>
          </a:p>
        </p:txBody>
      </p:sp>
      <p:sp>
        <p:nvSpPr>
          <p:cNvPr id="12" name="Rectangle 11"/>
          <p:cNvSpPr/>
          <p:nvPr/>
        </p:nvSpPr>
        <p:spPr>
          <a:xfrm>
            <a:off x="6287871" y="4219923"/>
            <a:ext cx="5336895" cy="1223568"/>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750" b="1" i="0" spc="60">
                <a:solidFill>
                  <a:srgbClr val="B08800"/>
                </a:solidFill>
                <a:latin typeface="Consolas"/>
              </a:rPr>
              <a:t>AND WHAT WOULD MOVE IT</a:t>
            </a:r>
          </a:p>
          <a:p>
            <a:pPr algn="l">
              <a:spcAft>
                <a:spcPts val="400"/>
              </a:spcAft>
            </a:pPr>
            <a:r>
              <a:rPr sz="1200" b="1" i="0">
                <a:solidFill>
                  <a:srgbClr val="0E1721"/>
                </a:solidFill>
                <a:latin typeface="Calibri"/>
              </a:rPr>
              <a:t>Cross-camera GPU batching</a:t>
            </a:r>
          </a:p>
          <a:p>
            <a:pPr algn="l">
              <a:spcAft>
                <a:spcPts val="300"/>
              </a:spcAft>
            </a:pPr>
            <a:r>
              <a:rPr sz="980" b="0" i="0">
                <a:solidFill>
                  <a:srgbClr val="47586A"/>
                </a:solidFill>
                <a:latin typeface="Calibri"/>
              </a:rPr>
              <a:t>Plausibly 3 to 5x per node, taking 1,600 toward ~400. It is an architecture change, not a flag, so it is </a:t>
            </a:r>
            <a:r>
              <a:rPr sz="980" b="1" i="0">
                <a:solidFill>
                  <a:srgbClr val="47586A"/>
                </a:solidFill>
                <a:latin typeface="Calibri"/>
              </a:rPr>
              <a:t>named, not claimed</a:t>
            </a:r>
            <a:r>
              <a:rPr sz="980" b="0" i="0">
                <a:solidFill>
                  <a:srgbClr val="47586A"/>
                </a:solidFill>
                <a:latin typeface="Calibri"/>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7A8A99"/>
                </a:solidFill>
                <a:latin typeface="Consolas"/>
              </a:rPr>
              <a:t>ELEMENT 7 OF 8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7A8A99"/>
                </a:solidFill>
                <a:latin typeface="Consolas"/>
              </a:rPr>
              <a:t>17</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7A8A99"/>
                </a:solidFill>
                <a:latin typeface="Consolas"/>
              </a:rPr>
              <a:t>INTEROPERABILITY, SECURITY, DEPLOYMENT</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0E1721"/>
                </a:solidFill>
                <a:latin typeface="Calibri"/>
              </a:rPr>
              <a:t>What is built, and what is designed, labelled</a:t>
            </a:r>
          </a:p>
        </p:txBody>
      </p:sp>
      <p:sp>
        <p:nvSpPr>
          <p:cNvPr id="7" name="Rectangle 6"/>
          <p:cNvSpPr/>
          <p:nvPr/>
        </p:nvSpPr>
        <p:spPr>
          <a:xfrm>
            <a:off x="713232" y="1285875"/>
            <a:ext cx="841248" cy="34925"/>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349108"/>
            <a:ext cx="3478682" cy="274320"/>
          </a:xfrm>
          <a:prstGeom prst="rect">
            <a:avLst/>
          </a:prstGeom>
          <a:noFill/>
        </p:spPr>
        <p:txBody>
          <a:bodyPr wrap="square" lIns="0" rIns="0" tIns="0" bIns="0">
            <a:spAutoFit/>
          </a:bodyPr>
          <a:lstStyle/>
          <a:p>
            <a:r>
              <a:rPr sz="850" b="0" i="0" spc="90">
                <a:solidFill>
                  <a:srgbClr val="7A8A99"/>
                </a:solidFill>
                <a:latin typeface="Consolas"/>
              </a:rPr>
              <a:t>INTEROPERABILITY</a:t>
            </a:r>
          </a:p>
        </p:txBody>
      </p:sp>
      <p:sp>
        <p:nvSpPr>
          <p:cNvPr id="9" name="TextBox 8"/>
          <p:cNvSpPr txBox="1"/>
          <p:nvPr/>
        </p:nvSpPr>
        <p:spPr>
          <a:xfrm>
            <a:off x="713232" y="2630921"/>
            <a:ext cx="3478682" cy="274320"/>
          </a:xfrm>
          <a:prstGeom prst="rect">
            <a:avLst/>
          </a:prstGeom>
          <a:noFill/>
        </p:spPr>
        <p:txBody>
          <a:bodyPr wrap="square" lIns="0" rIns="0" tIns="0" bIns="0">
            <a:spAutoFit/>
          </a:bodyPr>
          <a:lstStyle/>
          <a:p>
            <a:pPr>
              <a:spcAft>
                <a:spcPts val="500"/>
              </a:spcAft>
            </a:pPr>
            <a:r>
              <a:rPr sz="1050" b="1" i="0">
                <a:solidFill>
                  <a:srgbClr val="B08800"/>
                </a:solidFill>
                <a:latin typeface="Calibri"/>
              </a:rPr>
              <a:t>▪  </a:t>
            </a:r>
            <a:r>
              <a:rPr sz="1050" b="0" i="0">
                <a:solidFill>
                  <a:srgbClr val="47586A"/>
                </a:solidFill>
                <a:latin typeface="Calibri"/>
              </a:rPr>
              <a:t>ONVIF · RTSP · HLS · WebRTC</a:t>
            </a:r>
          </a:p>
          <a:p>
            <a:pPr>
              <a:spcAft>
                <a:spcPts val="500"/>
              </a:spcAft>
            </a:pPr>
            <a:r>
              <a:rPr sz="1050" b="1" i="0">
                <a:solidFill>
                  <a:srgbClr val="B08800"/>
                </a:solidFill>
                <a:latin typeface="Calibri"/>
              </a:rPr>
              <a:t>▪  </a:t>
            </a:r>
            <a:r>
              <a:rPr sz="1050" b="0" i="0">
                <a:solidFill>
                  <a:srgbClr val="47586A"/>
                </a:solidFill>
                <a:latin typeface="Calibri"/>
              </a:rPr>
              <a:t>OpenAPI, browsable on the running instance</a:t>
            </a:r>
          </a:p>
          <a:p>
            <a:pPr>
              <a:spcAft>
                <a:spcPts val="500"/>
              </a:spcAft>
            </a:pPr>
            <a:r>
              <a:rPr sz="1050" b="1" i="0">
                <a:solidFill>
                  <a:srgbClr val="B08800"/>
                </a:solidFill>
                <a:latin typeface="Calibri"/>
              </a:rPr>
              <a:t>▪  </a:t>
            </a:r>
            <a:r>
              <a:rPr sz="1050" b="1" i="0">
                <a:solidFill>
                  <a:srgbClr val="47586A"/>
                </a:solidFill>
                <a:latin typeface="Calibri"/>
              </a:rPr>
              <a:t>GeoJSON</a:t>
            </a:r>
            <a:r>
              <a:rPr sz="1050" b="0" i="0">
                <a:solidFill>
                  <a:srgbClr val="47586A"/>
                </a:solidFill>
                <a:latin typeface="Calibri"/>
              </a:rPr>
              <a:t> for everything geographic</a:t>
            </a:r>
          </a:p>
          <a:p>
            <a:pPr>
              <a:spcAft>
                <a:spcPts val="500"/>
              </a:spcAft>
            </a:pPr>
            <a:r>
              <a:rPr sz="1050" b="1" i="0">
                <a:solidFill>
                  <a:srgbClr val="B08800"/>
                </a:solidFill>
                <a:latin typeface="Calibri"/>
              </a:rPr>
              <a:t>▪  </a:t>
            </a:r>
            <a:r>
              <a:rPr sz="1050" b="0" i="0">
                <a:solidFill>
                  <a:srgbClr val="47586A"/>
                </a:solidFill>
                <a:latin typeface="Calibri"/>
              </a:rPr>
              <a:t>Kafka wire protocol</a:t>
            </a:r>
          </a:p>
          <a:p>
            <a:pPr>
              <a:spcAft>
                <a:spcPts val="500"/>
              </a:spcAft>
            </a:pPr>
            <a:r>
              <a:rPr sz="1050" b="1" i="0">
                <a:solidFill>
                  <a:srgbClr val="B08800"/>
                </a:solidFill>
                <a:latin typeface="Calibri"/>
              </a:rPr>
              <a:t>▪  </a:t>
            </a:r>
            <a:r>
              <a:rPr sz="1050" b="0" i="0">
                <a:solidFill>
                  <a:srgbClr val="47586A"/>
                </a:solidFill>
                <a:latin typeface="Calibri"/>
              </a:rPr>
              <a:t>One provider interface per watchlist source</a:t>
            </a:r>
          </a:p>
        </p:txBody>
      </p:sp>
      <p:sp>
        <p:nvSpPr>
          <p:cNvPr id="10" name="TextBox 9"/>
          <p:cNvSpPr txBox="1"/>
          <p:nvPr/>
        </p:nvSpPr>
        <p:spPr>
          <a:xfrm>
            <a:off x="713232" y="3890126"/>
            <a:ext cx="3478682" cy="274320"/>
          </a:xfrm>
          <a:prstGeom prst="rect">
            <a:avLst/>
          </a:prstGeom>
          <a:noFill/>
        </p:spPr>
        <p:txBody>
          <a:bodyPr wrap="square" lIns="0" rIns="0" tIns="0" bIns="0">
            <a:spAutoFit/>
          </a:bodyPr>
          <a:lstStyle/>
          <a:p>
            <a:r>
              <a:rPr sz="850" b="0" i="0">
                <a:solidFill>
                  <a:srgbClr val="7A8A99"/>
                </a:solidFill>
                <a:latin typeface="Consolas"/>
              </a:rPr>
              <a:t>No proprietary interface between our own layers.</a:t>
            </a:r>
          </a:p>
        </p:txBody>
      </p:sp>
      <p:sp>
        <p:nvSpPr>
          <p:cNvPr id="11" name="TextBox 10"/>
          <p:cNvSpPr txBox="1"/>
          <p:nvPr/>
        </p:nvSpPr>
        <p:spPr>
          <a:xfrm>
            <a:off x="4429658" y="2349108"/>
            <a:ext cx="3478682" cy="274320"/>
          </a:xfrm>
          <a:prstGeom prst="rect">
            <a:avLst/>
          </a:prstGeom>
          <a:noFill/>
        </p:spPr>
        <p:txBody>
          <a:bodyPr wrap="square" lIns="0" rIns="0" tIns="0" bIns="0">
            <a:spAutoFit/>
          </a:bodyPr>
          <a:lstStyle/>
          <a:p>
            <a:r>
              <a:rPr sz="850" b="0" i="0" spc="90">
                <a:solidFill>
                  <a:srgbClr val="7A8A99"/>
                </a:solidFill>
                <a:latin typeface="Consolas"/>
              </a:rPr>
              <a:t>SECURITY: BUILT</a:t>
            </a:r>
          </a:p>
        </p:txBody>
      </p:sp>
      <p:sp>
        <p:nvSpPr>
          <p:cNvPr id="12" name="TextBox 11"/>
          <p:cNvSpPr txBox="1"/>
          <p:nvPr/>
        </p:nvSpPr>
        <p:spPr>
          <a:xfrm>
            <a:off x="4429658" y="2630921"/>
            <a:ext cx="3478682" cy="274320"/>
          </a:xfrm>
          <a:prstGeom prst="rect">
            <a:avLst/>
          </a:prstGeom>
          <a:noFill/>
        </p:spPr>
        <p:txBody>
          <a:bodyPr wrap="square" lIns="0" rIns="0" tIns="0" bIns="0">
            <a:spAutoFit/>
          </a:bodyPr>
          <a:lstStyle/>
          <a:p>
            <a:pPr>
              <a:spcAft>
                <a:spcPts val="500"/>
              </a:spcAft>
            </a:pPr>
            <a:r>
              <a:rPr sz="1050" b="1" i="0">
                <a:solidFill>
                  <a:srgbClr val="B08800"/>
                </a:solidFill>
                <a:latin typeface="Calibri"/>
              </a:rPr>
              <a:t>▪  </a:t>
            </a:r>
            <a:r>
              <a:rPr sz="1050" b="0" i="0">
                <a:solidFill>
                  <a:srgbClr val="47586A"/>
                </a:solidFill>
                <a:latin typeface="Calibri"/>
              </a:rPr>
              <a:t>Credentials </a:t>
            </a:r>
            <a:r>
              <a:rPr sz="1050" b="1" i="0">
                <a:solidFill>
                  <a:srgbClr val="47586A"/>
                </a:solidFill>
                <a:latin typeface="Calibri"/>
              </a:rPr>
              <a:t>never</a:t>
            </a:r>
            <a:r>
              <a:rPr sz="1050" b="0" i="0">
                <a:solidFill>
                  <a:srgbClr val="47586A"/>
                </a:solidFill>
                <a:latin typeface="Calibri"/>
              </a:rPr>
              <a:t> in the registry; a URL with credentials embedded is rejected with </a:t>
            </a:r>
            <a:r>
              <a:rPr sz="1050" b="1" i="0">
                <a:solidFill>
                  <a:srgbClr val="47586A"/>
                </a:solidFill>
                <a:latin typeface="Calibri"/>
              </a:rPr>
              <a:t>422</a:t>
            </a:r>
          </a:p>
          <a:p>
            <a:pPr>
              <a:spcAft>
                <a:spcPts val="500"/>
              </a:spcAft>
            </a:pPr>
            <a:r>
              <a:rPr sz="1050" b="1" i="0">
                <a:solidFill>
                  <a:srgbClr val="B08800"/>
                </a:solidFill>
                <a:latin typeface="Calibri"/>
              </a:rPr>
              <a:t>▪  </a:t>
            </a:r>
            <a:r>
              <a:rPr sz="1050" b="0" i="0">
                <a:solidFill>
                  <a:srgbClr val="47586A"/>
                </a:solidFill>
                <a:latin typeface="Calibri"/>
              </a:rPr>
              <a:t>Role- and department-scoped access derived from </a:t>
            </a:r>
            <a:r>
              <a:rPr sz="1050" b="1" i="0">
                <a:solidFill>
                  <a:srgbClr val="47586A"/>
                </a:solidFill>
                <a:latin typeface="Calibri"/>
              </a:rPr>
              <a:t>registry ownership</a:t>
            </a:r>
            <a:r>
              <a:rPr sz="1050" b="0" i="0">
                <a:solidFill>
                  <a:srgbClr val="47586A"/>
                </a:solidFill>
                <a:latin typeface="Calibri"/>
              </a:rPr>
              <a:t>, data-driven, not a code path per department</a:t>
            </a:r>
          </a:p>
          <a:p>
            <a:pPr>
              <a:spcAft>
                <a:spcPts val="500"/>
              </a:spcAft>
            </a:pPr>
            <a:r>
              <a:rPr sz="1050" b="1" i="0">
                <a:solidFill>
                  <a:srgbClr val="B08800"/>
                </a:solidFill>
                <a:latin typeface="Calibri"/>
              </a:rPr>
              <a:t>▪  </a:t>
            </a:r>
            <a:r>
              <a:rPr sz="1050" b="1" i="0">
                <a:solidFill>
                  <a:srgbClr val="47586A"/>
                </a:solidFill>
                <a:latin typeface="Calibri"/>
              </a:rPr>
              <a:t>Immutable audit</a:t>
            </a:r>
            <a:r>
              <a:rPr sz="1050" b="0" i="0">
                <a:solidFill>
                  <a:srgbClr val="47586A"/>
                </a:solidFill>
                <a:latin typeface="Calibri"/>
              </a:rPr>
              <a:t> of every view, search, query and export</a:t>
            </a:r>
          </a:p>
          <a:p>
            <a:pPr>
              <a:spcAft>
                <a:spcPts val="500"/>
              </a:spcAft>
            </a:pPr>
            <a:r>
              <a:rPr sz="1050" b="1" i="0">
                <a:solidFill>
                  <a:srgbClr val="B08800"/>
                </a:solidFill>
                <a:latin typeface="Calibri"/>
              </a:rPr>
              <a:t>▪  </a:t>
            </a:r>
            <a:r>
              <a:rPr sz="1050" b="0" i="0">
                <a:solidFill>
                  <a:srgbClr val="47586A"/>
                </a:solidFill>
                <a:latin typeface="Calibri"/>
              </a:rPr>
              <a:t>A </a:t>
            </a:r>
            <a:r>
              <a:rPr sz="1050" b="1" i="0">
                <a:solidFill>
                  <a:srgbClr val="47586A"/>
                </a:solidFill>
                <a:latin typeface="Calibri"/>
              </a:rPr>
              <a:t>case reference</a:t>
            </a:r>
            <a:r>
              <a:rPr sz="1050" b="0" i="0">
                <a:solidFill>
                  <a:srgbClr val="47586A"/>
                </a:solidFill>
                <a:latin typeface="Calibri"/>
              </a:rPr>
              <a:t> binding the purpose of each query</a:t>
            </a:r>
          </a:p>
        </p:txBody>
      </p:sp>
      <p:sp>
        <p:nvSpPr>
          <p:cNvPr id="13" name="TextBox 12"/>
          <p:cNvSpPr txBox="1"/>
          <p:nvPr/>
        </p:nvSpPr>
        <p:spPr>
          <a:xfrm>
            <a:off x="8146084" y="2349108"/>
            <a:ext cx="3478682" cy="274320"/>
          </a:xfrm>
          <a:prstGeom prst="rect">
            <a:avLst/>
          </a:prstGeom>
          <a:noFill/>
        </p:spPr>
        <p:txBody>
          <a:bodyPr wrap="square" lIns="0" rIns="0" tIns="0" bIns="0">
            <a:spAutoFit/>
          </a:bodyPr>
          <a:lstStyle/>
          <a:p>
            <a:r>
              <a:rPr sz="850" b="0" i="0" spc="90">
                <a:solidFill>
                  <a:srgbClr val="7A8A99"/>
                </a:solidFill>
                <a:latin typeface="Consolas"/>
              </a:rPr>
              <a:t>SECURITY: DESIGN</a:t>
            </a:r>
          </a:p>
        </p:txBody>
      </p:sp>
      <p:sp>
        <p:nvSpPr>
          <p:cNvPr id="14" name="TextBox 13"/>
          <p:cNvSpPr txBox="1"/>
          <p:nvPr/>
        </p:nvSpPr>
        <p:spPr>
          <a:xfrm>
            <a:off x="8146084" y="2630921"/>
            <a:ext cx="3478682" cy="274320"/>
          </a:xfrm>
          <a:prstGeom prst="rect">
            <a:avLst/>
          </a:prstGeom>
          <a:noFill/>
        </p:spPr>
        <p:txBody>
          <a:bodyPr wrap="square" lIns="0" rIns="0" tIns="0" bIns="0">
            <a:spAutoFit/>
          </a:bodyPr>
          <a:lstStyle/>
          <a:p>
            <a:pPr>
              <a:spcAft>
                <a:spcPts val="500"/>
              </a:spcAft>
            </a:pPr>
            <a:r>
              <a:rPr sz="1050" b="1" i="0">
                <a:solidFill>
                  <a:srgbClr val="B08800"/>
                </a:solidFill>
                <a:latin typeface="Calibri"/>
              </a:rPr>
              <a:t>▪  </a:t>
            </a:r>
            <a:r>
              <a:rPr sz="1050" b="0" i="0">
                <a:solidFill>
                  <a:srgbClr val="47586A"/>
                </a:solidFill>
                <a:latin typeface="Calibri"/>
              </a:rPr>
              <a:t>Managed secret vault with rotation</a:t>
            </a:r>
          </a:p>
          <a:p>
            <a:pPr>
              <a:spcAft>
                <a:spcPts val="500"/>
              </a:spcAft>
            </a:pPr>
            <a:r>
              <a:rPr sz="1050" b="1" i="0">
                <a:solidFill>
                  <a:srgbClr val="B08800"/>
                </a:solidFill>
                <a:latin typeface="Calibri"/>
              </a:rPr>
              <a:t>▪  </a:t>
            </a:r>
            <a:r>
              <a:rPr sz="1050" b="0" i="0">
                <a:solidFill>
                  <a:srgbClr val="47586A"/>
                </a:solidFill>
                <a:latin typeface="Calibri"/>
              </a:rPr>
              <a:t>mTLS between services</a:t>
            </a:r>
          </a:p>
          <a:p>
            <a:pPr>
              <a:spcAft>
                <a:spcPts val="500"/>
              </a:spcAft>
            </a:pPr>
            <a:r>
              <a:rPr sz="1050" b="1" i="0">
                <a:solidFill>
                  <a:srgbClr val="B08800"/>
                </a:solidFill>
                <a:latin typeface="Calibri"/>
              </a:rPr>
              <a:t>▪  </a:t>
            </a:r>
            <a:r>
              <a:rPr sz="1050" b="0" i="0">
                <a:solidFill>
                  <a:srgbClr val="47586A"/>
                </a:solidFill>
                <a:latin typeface="Calibri"/>
              </a:rPr>
              <a:t>Camera-VLAN segmentation</a:t>
            </a:r>
          </a:p>
          <a:p>
            <a:pPr>
              <a:spcAft>
                <a:spcPts val="500"/>
              </a:spcAft>
            </a:pPr>
            <a:r>
              <a:rPr sz="1050" b="1" i="0">
                <a:solidFill>
                  <a:srgbClr val="B08800"/>
                </a:solidFill>
                <a:latin typeface="Calibri"/>
              </a:rPr>
              <a:t>▪  </a:t>
            </a:r>
            <a:r>
              <a:rPr sz="1050" b="0" i="0">
                <a:solidFill>
                  <a:srgbClr val="47586A"/>
                </a:solidFill>
                <a:latin typeface="Calibri"/>
              </a:rPr>
              <a:t>Active-passive DR</a:t>
            </a:r>
          </a:p>
        </p:txBody>
      </p:sp>
      <p:sp>
        <p:nvSpPr>
          <p:cNvPr id="15" name="TextBox 14"/>
          <p:cNvSpPr txBox="1"/>
          <p:nvPr/>
        </p:nvSpPr>
        <p:spPr>
          <a:xfrm>
            <a:off x="8146084" y="3647429"/>
            <a:ext cx="3478682" cy="274320"/>
          </a:xfrm>
          <a:prstGeom prst="rect">
            <a:avLst/>
          </a:prstGeom>
          <a:noFill/>
        </p:spPr>
        <p:txBody>
          <a:bodyPr wrap="square" lIns="0" rIns="0" tIns="0" bIns="0">
            <a:spAutoFit/>
          </a:bodyPr>
          <a:lstStyle/>
          <a:p>
            <a:r>
              <a:rPr sz="850" b="1" i="0">
                <a:solidFill>
                  <a:srgbClr val="7A8A99"/>
                </a:solidFill>
                <a:latin typeface="Consolas"/>
              </a:rPr>
              <a:t>Named, not implied.</a:t>
            </a:r>
            <a:r>
              <a:rPr sz="850" b="0" i="0">
                <a:solidFill>
                  <a:srgbClr val="7A8A99"/>
                </a:solidFill>
                <a:latin typeface="Consolas"/>
              </a:rPr>
              <a:t> A proposal that blurs built and specified cannot be trusted on either.</a:t>
            </a:r>
          </a:p>
        </p:txBody>
      </p:sp>
      <p:sp>
        <p:nvSpPr>
          <p:cNvPr id="16" name="Rectangle 15"/>
          <p:cNvSpPr/>
          <p:nvPr/>
        </p:nvSpPr>
        <p:spPr>
          <a:xfrm>
            <a:off x="713232" y="4409683"/>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4647427"/>
            <a:ext cx="10911535" cy="274320"/>
          </a:xfrm>
          <a:prstGeom prst="rect">
            <a:avLst/>
          </a:prstGeom>
          <a:noFill/>
        </p:spPr>
        <p:txBody>
          <a:bodyPr wrap="square" lIns="0" rIns="0" tIns="0" bIns="0">
            <a:spAutoFit/>
          </a:bodyPr>
          <a:lstStyle/>
          <a:p>
            <a:r>
              <a:rPr sz="1050" b="1" i="0">
                <a:solidFill>
                  <a:srgbClr val="47586A"/>
                </a:solidFill>
                <a:latin typeface="Calibri"/>
              </a:rPr>
              <a:t>Privacy under the DPDP Act 2023.</a:t>
            </a:r>
            <a:r>
              <a:rPr sz="1050" b="0" i="0">
                <a:solidFill>
                  <a:srgbClr val="47586A"/>
                </a:solidFill>
                <a:latin typeface="Calibri"/>
              </a:rPr>
              <a:t> Metadata-by-default </a:t>
            </a:r>
            <a:r>
              <a:rPr sz="1050" b="0" i="0">
                <a:solidFill>
                  <a:srgbClr val="47586A"/>
                </a:solidFill>
                <a:latin typeface="Calibri"/>
              </a:rPr>
              <a:t>is</a:t>
            </a:r>
            <a:r>
              <a:rPr sz="1050" b="0" i="0">
                <a:solidFill>
                  <a:srgbClr val="47586A"/>
                </a:solidFill>
                <a:latin typeface="Calibri"/>
              </a:rPr>
              <a:t> the primary control: the platform's default state is that no personal video has moved anywhere. Facial recognition ships </a:t>
            </a:r>
            <a:r>
              <a:rPr sz="1050" b="1" i="0">
                <a:solidFill>
                  <a:srgbClr val="47586A"/>
                </a:solidFill>
                <a:latin typeface="Calibri"/>
              </a:rPr>
              <a:t>disabled</a:t>
            </a:r>
            <a:r>
              <a:rPr sz="1050" b="0" i="0">
                <a:solidFill>
                  <a:srgbClr val="47586A"/>
                </a:solidFill>
                <a:latin typeface="Calibri"/>
              </a:rPr>
              <a:t>, requires per-query case binding and audit to enable, and is demonstrated only on synthetic faces.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7A8A99"/>
                </a:solidFill>
                <a:latin typeface="Consolas"/>
              </a:rPr>
              <a:t>ELEMENT 8 OF 8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7A8A99"/>
                </a:solidFill>
                <a:latin typeface="Consolas"/>
              </a:rPr>
              <a:t>18</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7A8A99"/>
                </a:solidFill>
                <a:latin typeface="Consolas"/>
              </a:rPr>
              <a:t>EXPECTED OPERATIONAL BENEFITS AND IMPACT ON POLICING</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0E1721"/>
                </a:solidFill>
                <a:latin typeface="Calibri"/>
              </a:rPr>
              <a:t>What changes in how the work is done</a:t>
            </a:r>
          </a:p>
        </p:txBody>
      </p:sp>
      <p:sp>
        <p:nvSpPr>
          <p:cNvPr id="7" name="Rectangle 6"/>
          <p:cNvSpPr/>
          <p:nvPr/>
        </p:nvSpPr>
        <p:spPr>
          <a:xfrm>
            <a:off x="713232" y="1285875"/>
            <a:ext cx="841248" cy="34925"/>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713232" y="2605620"/>
          <a:ext cx="10911534" cy="1645920"/>
        </p:xfrm>
        <a:graphic>
          <a:graphicData uri="http://schemas.openxmlformats.org/drawingml/2006/table">
            <a:tbl>
              <a:tblPr>
                <a:tableStyleId>{5C22544A-7EE6-4342-B048-85BDC9FD1C3A}</a:tableStyleId>
              </a:tblPr>
              <a:tblGrid>
                <a:gridCol w="2036868"/>
                <a:gridCol w="4115631"/>
                <a:gridCol w="4759035"/>
              </a:tblGrid>
              <a:tr h="274320">
                <a:tc>
                  <a:txBody>
                    <a:bodyPr wrap="square"/>
                    <a:lstStyle/>
                    <a:p>
                      <a:r>
                        <a:rPr sz="800" b="1" i="0">
                          <a:solidFill>
                            <a:srgbClr val="7A8A99"/>
                          </a:solidFill>
                          <a:latin typeface="Consolas"/>
                        </a:rPr>
                        <a:t/>
                      </a:r>
                    </a:p>
                  </a:txBody>
                  <a:tcPr marL="64008" marR="64008" marT="41148" marB="41148" anchor="t">
                    <a:solidFill>
                      <a:srgbClr val="FFFFFF"/>
                    </a:solidFill>
                    <a:lnL w="0">
                      <a:noFill/>
                    </a:lnL>
                    <a:lnR w="0">
                      <a:noFill/>
                    </a:lnR>
                    <a:lnT w="0">
                      <a:noFill/>
                    </a:lnT>
                    <a:lnB w="12700" cap="flat" cmpd="sng" algn="ctr">
                      <a:solidFill>
                        <a:srgbClr val="12508F"/>
                      </a:solidFill>
                    </a:lnB>
                  </a:tcPr>
                </a:tc>
                <a:tc>
                  <a:txBody>
                    <a:bodyPr wrap="square"/>
                    <a:lstStyle/>
                    <a:p>
                      <a:r>
                        <a:rPr sz="800" b="1" i="0">
                          <a:solidFill>
                            <a:srgbClr val="7A8A99"/>
                          </a:solidFill>
                          <a:latin typeface="Consolas"/>
                        </a:rPr>
                        <a:t>TODAY</a:t>
                      </a:r>
                    </a:p>
                  </a:txBody>
                  <a:tcPr marL="64008" marR="64008" marT="41148" marB="41148" anchor="t">
                    <a:solidFill>
                      <a:srgbClr val="FFFFFF"/>
                    </a:solidFill>
                    <a:lnL w="0">
                      <a:noFill/>
                    </a:lnL>
                    <a:lnR w="0">
                      <a:noFill/>
                    </a:lnR>
                    <a:lnT w="0">
                      <a:noFill/>
                    </a:lnT>
                    <a:lnB w="12700" cap="flat" cmpd="sng" algn="ctr">
                      <a:solidFill>
                        <a:srgbClr val="12508F"/>
                      </a:solidFill>
                    </a:lnB>
                  </a:tcPr>
                </a:tc>
                <a:tc>
                  <a:txBody>
                    <a:bodyPr wrap="square"/>
                    <a:lstStyle/>
                    <a:p>
                      <a:r>
                        <a:rPr sz="800" b="1" i="0">
                          <a:solidFill>
                            <a:srgbClr val="7A8A99"/>
                          </a:solidFill>
                          <a:latin typeface="Consolas"/>
                        </a:rPr>
                        <a:t>WITH THIS PLATFORM</a:t>
                      </a:r>
                    </a:p>
                  </a:txBody>
                  <a:tcPr marL="64008" marR="64008" marT="41148" marB="41148" anchor="t">
                    <a:solidFill>
                      <a:srgbClr val="FFFFFF"/>
                    </a:solidFill>
                    <a:lnL w="0">
                      <a:noFill/>
                    </a:lnL>
                    <a:lnR w="0">
                      <a:noFill/>
                    </a:lnR>
                    <a:lnT w="0">
                      <a:noFill/>
                    </a:lnT>
                    <a:lnB w="12700" cap="flat" cmpd="sng" algn="ctr">
                      <a:solidFill>
                        <a:srgbClr val="12508F"/>
                      </a:solidFill>
                    </a:lnB>
                  </a:tcPr>
                </a:tc>
              </a:tr>
              <a:tr h="274320">
                <a:tc>
                  <a:txBody>
                    <a:bodyPr wrap="square"/>
                    <a:lstStyle/>
                    <a:p>
                      <a:r>
                        <a:rPr sz="900" b="1" i="0">
                          <a:solidFill>
                            <a:srgbClr val="47586A"/>
                          </a:solidFill>
                          <a:latin typeface="Calibri"/>
                        </a:rPr>
                        <a:t>Time to locate a suspect vehicle</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Camera-by-camera manual review, department by department, over hours</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A plate query returns a timestamped route, </a:t>
                      </a:r>
                      <a:r>
                        <a:rPr sz="900" b="0" i="0">
                          <a:solidFill>
                            <a:srgbClr val="1F7A52"/>
                          </a:solidFill>
                          <a:latin typeface="Calibri"/>
                        </a:rPr>
                        <a:t>26 ms</a:t>
                      </a:r>
                      <a:r>
                        <a:rPr sz="900" b="0" i="0">
                          <a:solidFill>
                            <a:srgbClr val="47586A"/>
                          </a:solidFill>
                          <a:latin typeface="Calibri"/>
                        </a:rPr>
                        <a:t> p50, 31 ms p95</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Cross-department visibility</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A Home Department investigator sees nothing from RTO or Food &amp; Civil Supplies cameras</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The registry makes coverage </a:t>
                      </a:r>
                      <a:r>
                        <a:rPr sz="900" b="1" i="0">
                          <a:solidFill>
                            <a:srgbClr val="47586A"/>
                          </a:solidFill>
                          <a:latin typeface="Calibri"/>
                        </a:rPr>
                        <a:t>discoverable</a:t>
                      </a:r>
                      <a:r>
                        <a:rPr sz="900" b="0" i="0">
                          <a:solidFill>
                            <a:srgbClr val="47586A"/>
                          </a:solidFill>
                          <a:latin typeface="Calibri"/>
                        </a:rPr>
                        <a:t>, you can learn a camera exists before negotiating access to it</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Posture</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Reactive: footage is reviewed after the incident</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1" i="0">
                          <a:solidFill>
                            <a:srgbClr val="47586A"/>
                          </a:solidFill>
                          <a:latin typeface="Calibri"/>
                        </a:rPr>
                        <a:t>Proactive</a:t>
                      </a:r>
                      <a:r>
                        <a:rPr sz="900" b="0" i="0">
                          <a:solidFill>
                            <a:srgbClr val="47586A"/>
                          </a:solidFill>
                          <a:latin typeface="Calibri"/>
                        </a:rPr>
                        <a:t>, a hit surfaces while the vehicle is still moving. </a:t>
                      </a:r>
                      <a:r>
                        <a:rPr sz="900" b="0" i="0">
                          <a:solidFill>
                            <a:srgbClr val="1F7A52"/>
                          </a:solidFill>
                          <a:latin typeface="Calibri"/>
                        </a:rPr>
                        <a:t>1.04 s</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Manpower</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Operators watch video walls</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Operators </a:t>
                      </a:r>
                      <a:r>
                        <a:rPr sz="900" b="1" i="0">
                          <a:solidFill>
                            <a:srgbClr val="47586A"/>
                          </a:solidFill>
                          <a:latin typeface="Calibri"/>
                        </a:rPr>
                        <a:t>triage prioritised alerts</a:t>
                      </a:r>
                      <a:r>
                        <a:rPr sz="900" b="0" i="0">
                          <a:solidFill>
                            <a:srgbClr val="47586A"/>
                          </a:solidFill>
                          <a:latin typeface="Calibri"/>
                        </a:rPr>
                        <a:t> that carry their own evidence bundle</a:t>
                      </a:r>
                    </a:p>
                  </a:txBody>
                  <a:tcPr marL="64008" marR="64008" marT="41148" marB="41148" anchor="t">
                    <a:solidFill>
                      <a:srgbClr val="FFFFFF"/>
                    </a:solidFill>
                    <a:lnL w="0">
                      <a:noFill/>
                    </a:lnL>
                    <a:lnR w="0">
                      <a:noFill/>
                    </a:lnR>
                    <a:lnT w="0">
                      <a:noFill/>
                    </a:lnT>
                    <a:lnB w="6350" cap="flat" cmpd="sng" algn="ctr">
                      <a:solidFill>
                        <a:srgbClr val="DCE3E8"/>
                      </a:solidFill>
                    </a:lnB>
                  </a:tcPr>
                </a:tc>
              </a:tr>
              <a:tr h="274320">
                <a:tc>
                  <a:txBody>
                    <a:bodyPr wrap="square"/>
                    <a:lstStyle/>
                    <a:p>
                      <a:r>
                        <a:rPr sz="900" b="1" i="0">
                          <a:solidFill>
                            <a:srgbClr val="47586A"/>
                          </a:solidFill>
                          <a:latin typeface="Calibri"/>
                        </a:rPr>
                        <a:t>Infrastructure planning</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0" i="0">
                          <a:solidFill>
                            <a:srgbClr val="47586A"/>
                          </a:solidFill>
                          <a:latin typeface="Calibri"/>
                        </a:rPr>
                        <a:t>Where the next camera goes is a judgement call</a:t>
                      </a:r>
                    </a:p>
                  </a:txBody>
                  <a:tcPr marL="64008" marR="64008" marT="41148" marB="41148" anchor="t">
                    <a:solidFill>
                      <a:srgbClr val="FFFFFF"/>
                    </a:solidFill>
                    <a:lnL w="0">
                      <a:noFill/>
                    </a:lnL>
                    <a:lnR w="0">
                      <a:noFill/>
                    </a:lnR>
                    <a:lnT w="0">
                      <a:noFill/>
                    </a:lnT>
                    <a:lnB w="6350" cap="flat" cmpd="sng" algn="ctr">
                      <a:solidFill>
                        <a:srgbClr val="DCE3E8"/>
                      </a:solidFill>
                    </a:lnB>
                  </a:tcPr>
                </a:tc>
                <a:tc>
                  <a:txBody>
                    <a:bodyPr wrap="square"/>
                    <a:lstStyle/>
                    <a:p>
                      <a:r>
                        <a:rPr sz="900" b="1" i="0">
                          <a:solidFill>
                            <a:srgbClr val="47586A"/>
                          </a:solidFill>
                          <a:latin typeface="Calibri"/>
                        </a:rPr>
                        <a:t>Gap analysis over the road network.</a:t>
                      </a:r>
                      <a:r>
                        <a:rPr sz="900" b="0" i="0">
                          <a:solidFill>
                            <a:srgbClr val="47586A"/>
                          </a:solidFill>
                          <a:latin typeface="Calibri"/>
                        </a:rPr>
                        <a:t> Measured on NH-48: </a:t>
                      </a:r>
                      <a:r>
                        <a:rPr sz="900" b="1" i="0">
                          <a:solidFill>
                            <a:srgbClr val="47586A"/>
                          </a:solidFill>
                          <a:latin typeface="Calibri"/>
                        </a:rPr>
                        <a:t>1.27%</a:t>
                      </a:r>
                      <a:r>
                        <a:rPr sz="900" b="0" i="0">
                          <a:solidFill>
                            <a:srgbClr val="47586A"/>
                          </a:solidFill>
                          <a:latin typeface="Calibri"/>
                        </a:rPr>
                        <a:t> of 237 km covered, </a:t>
                      </a:r>
                      <a:r>
                        <a:rPr sz="900" b="1" i="0">
                          <a:solidFill>
                            <a:srgbClr val="47586A"/>
                          </a:solidFill>
                          <a:latin typeface="Calibri"/>
                        </a:rPr>
                        <a:t>51</a:t>
                      </a:r>
                      <a:r>
                        <a:rPr sz="900" b="0" i="0">
                          <a:solidFill>
                            <a:srgbClr val="47586A"/>
                          </a:solidFill>
                          <a:latin typeface="Calibri"/>
                        </a:rPr>
                        <a:t> gaps, largest </a:t>
                      </a:r>
                      <a:r>
                        <a:rPr sz="900" b="1" i="0">
                          <a:solidFill>
                            <a:srgbClr val="47586A"/>
                          </a:solidFill>
                          <a:latin typeface="Calibri"/>
                        </a:rPr>
                        <a:t>4.76 km</a:t>
                      </a:r>
                    </a:p>
                  </a:txBody>
                  <a:tcPr marL="64008" marR="64008" marT="41148" marB="41148" anchor="t">
                    <a:solidFill>
                      <a:srgbClr val="FFFFFF"/>
                    </a:solidFill>
                    <a:lnL w="0">
                      <a:noFill/>
                    </a:lnL>
                    <a:lnR w="0">
                      <a:noFill/>
                    </a:lnR>
                    <a:lnT w="0">
                      <a:noFill/>
                    </a:lnT>
                    <a:lnB w="6350" cap="flat" cmpd="sng" algn="ctr">
                      <a:solidFill>
                        <a:srgbClr val="DCE3E8"/>
                      </a:solidFill>
                    </a:lnB>
                  </a:tcPr>
                </a:tc>
              </a:tr>
            </a:tbl>
          </a:graphicData>
        </a:graphic>
      </p:graphicFrame>
      <p:sp>
        <p:nvSpPr>
          <p:cNvPr id="9" name="Rectangle 8"/>
          <p:cNvSpPr/>
          <p:nvPr/>
        </p:nvSpPr>
        <p:spPr>
          <a:xfrm>
            <a:off x="713232" y="591032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6001766"/>
            <a:ext cx="10911535" cy="274320"/>
          </a:xfrm>
          <a:prstGeom prst="rect">
            <a:avLst/>
          </a:prstGeom>
          <a:noFill/>
        </p:spPr>
        <p:txBody>
          <a:bodyPr wrap="square" lIns="0" rIns="0" tIns="0" bIns="0">
            <a:spAutoFit/>
          </a:bodyPr>
          <a:lstStyle/>
          <a:p>
            <a:r>
              <a:rPr sz="850" b="1" i="0">
                <a:solidFill>
                  <a:srgbClr val="7A8A99"/>
                </a:solidFill>
                <a:latin typeface="Consolas"/>
              </a:rPr>
              <a:t>The structural impact:</a:t>
            </a:r>
            <a:r>
              <a:rPr sz="850" b="0" i="0">
                <a:solidFill>
                  <a:srgbClr val="7A8A99"/>
                </a:solidFill>
                <a:latin typeface="Consolas"/>
              </a:rPr>
              <a:t> the State gains a searchable index of vehicle movement that already contains the answer to a question nobody has asked yet. </a:t>
            </a:r>
            <a:r>
              <a:rPr sz="850" b="1" i="0">
                <a:solidFill>
                  <a:srgbClr val="7A8A99"/>
                </a:solidFill>
                <a:latin typeface="Consolas"/>
              </a:rPr>
              <a:t>And a cost impact:</a:t>
            </a:r>
            <a:r>
              <a:rPr sz="850" b="0" i="0">
                <a:solidFill>
                  <a:srgbClr val="7A8A99"/>
                </a:solidFill>
                <a:latin typeface="Consolas"/>
              </a:rPr>
              <a:t> ~26 PB and 240 Gbit/s of central infrastructure is </a:t>
            </a:r>
            <a:r>
              <a:rPr sz="850" b="1" i="0">
                <a:solidFill>
                  <a:srgbClr val="7A8A99"/>
                </a:solidFill>
                <a:latin typeface="Consolas"/>
              </a:rPr>
              <a:t>not purchased</a:t>
            </a:r>
            <a:r>
              <a:rPr sz="850" b="0" i="0">
                <a:solidFill>
                  <a:srgbClr val="7A8A99"/>
                </a:solidFill>
                <a:latin typeface="Consolas"/>
              </a:rPr>
              <a:t>, and 26 departments' existing investments keep running.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7A8A99"/>
                </a:solidFill>
                <a:latin typeface="Consolas"/>
              </a:rPr>
              <a:t>WORKING PLATFORM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7A8A99"/>
                </a:solidFill>
                <a:latin typeface="Consolas"/>
              </a:rPr>
              <a:t>19</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7A8A99"/>
                </a:solidFill>
                <a:latin typeface="Consolas"/>
              </a:rPr>
              <a:t>NOT A MOCK-UP</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0E1721"/>
                </a:solidFill>
                <a:latin typeface="Calibri"/>
              </a:rPr>
              <a:t>81 cameras onboarded statewide, every one resolved from the government catalogue</a:t>
            </a:r>
          </a:p>
        </p:txBody>
      </p:sp>
      <p:sp>
        <p:nvSpPr>
          <p:cNvPr id="7" name="Rectangle 6"/>
          <p:cNvSpPr/>
          <p:nvPr/>
        </p:nvSpPr>
        <p:spPr>
          <a:xfrm>
            <a:off x="713232" y="1285875"/>
            <a:ext cx="841248" cy="34925"/>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tatewide-81-cameras.png"/>
          <p:cNvPicPr>
            <a:picLocks noChangeAspect="1"/>
          </p:cNvPicPr>
          <p:nvPr/>
        </p:nvPicPr>
        <p:blipFill>
          <a:blip r:embed="rId2"/>
          <a:stretch>
            <a:fillRect/>
          </a:stretch>
        </p:blipFill>
        <p:spPr>
          <a:xfrm>
            <a:off x="713232" y="1523619"/>
            <a:ext cx="5336895" cy="3002003"/>
          </a:xfrm>
          <a:prstGeom prst="rect">
            <a:avLst/>
          </a:prstGeom>
        </p:spPr>
      </p:pic>
      <p:sp>
        <p:nvSpPr>
          <p:cNvPr id="9" name="TextBox 8"/>
          <p:cNvSpPr txBox="1"/>
          <p:nvPr/>
        </p:nvSpPr>
        <p:spPr>
          <a:xfrm>
            <a:off x="713232" y="4598774"/>
            <a:ext cx="5336895" cy="507111"/>
          </a:xfrm>
          <a:prstGeom prst="rect">
            <a:avLst/>
          </a:prstGeom>
          <a:noFill/>
        </p:spPr>
        <p:txBody>
          <a:bodyPr wrap="square" lIns="0" rIns="0" tIns="0" bIns="0">
            <a:spAutoFit/>
          </a:bodyPr>
          <a:lstStyle/>
          <a:p>
            <a:r>
              <a:rPr sz="850" b="1" i="0">
                <a:solidFill>
                  <a:srgbClr val="7A8A99"/>
                </a:solidFill>
                <a:latin typeface="Calibri"/>
              </a:rPr>
              <a:t>Registry and GIS console.</a:t>
            </a:r>
            <a:r>
              <a:rPr sz="850" b="0" i="0">
                <a:solidFill>
                  <a:srgbClr val="7A8A99"/>
                </a:solidFill>
                <a:latin typeface="Calibri"/>
              </a:rPr>
              <a:t> Positions resolve from the catalogue's place names through a gazetteer, never from a camera number, because the reference says camera ids can change. Health is probed, so a login page does not count as online.</a:t>
            </a:r>
          </a:p>
        </p:txBody>
      </p:sp>
      <p:pic>
        <p:nvPicPr>
          <p:cNvPr id="10" name="Picture 9" descr="m2-live-view-panel.png"/>
          <p:cNvPicPr>
            <a:picLocks noChangeAspect="1"/>
          </p:cNvPicPr>
          <p:nvPr/>
        </p:nvPicPr>
        <p:blipFill>
          <a:blip r:embed="rId3"/>
          <a:stretch>
            <a:fillRect/>
          </a:stretch>
        </p:blipFill>
        <p:spPr>
          <a:xfrm>
            <a:off x="7129698" y="1523619"/>
            <a:ext cx="3653240" cy="4441571"/>
          </a:xfrm>
          <a:prstGeom prst="rect">
            <a:avLst/>
          </a:prstGeom>
        </p:spPr>
      </p:pic>
      <p:sp>
        <p:nvSpPr>
          <p:cNvPr id="11" name="TextBox 10"/>
          <p:cNvSpPr txBox="1"/>
          <p:nvPr/>
        </p:nvSpPr>
        <p:spPr>
          <a:xfrm>
            <a:off x="6287871" y="6038342"/>
            <a:ext cx="5336895" cy="362458"/>
          </a:xfrm>
          <a:prstGeom prst="rect">
            <a:avLst/>
          </a:prstGeom>
          <a:noFill/>
        </p:spPr>
        <p:txBody>
          <a:bodyPr wrap="square" lIns="0" rIns="0" tIns="0" bIns="0">
            <a:spAutoFit/>
          </a:bodyPr>
          <a:lstStyle/>
          <a:p>
            <a:r>
              <a:rPr sz="850" b="1" i="0">
                <a:solidFill>
                  <a:srgbClr val="7A8A99"/>
                </a:solidFill>
                <a:latin typeface="Calibri"/>
              </a:rPr>
              <a:t>Live view, pulled on demand.</a:t>
            </a:r>
            <a:r>
              <a:rPr sz="850" b="0" i="0">
                <a:solidFill>
                  <a:srgbClr val="7A8A99"/>
                </a:solidFill>
                <a:latin typeface="Calibri"/>
              </a:rPr>
              <a:t> First frame in 0.57 s. The relay starts when an operator opens the camera and is reaped 45 s after the last viewer, so an unwatched camera costs only its metadata.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1721"/>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2C3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8A9BA8"/>
                </a:solidFill>
                <a:latin typeface="Consolas"/>
              </a:rPr>
              <a:t>EVIDENCE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8A9BA8"/>
                </a:solidFill>
                <a:latin typeface="Consolas"/>
              </a:rPr>
              <a:t>20</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8A9BA8"/>
                </a:solidFill>
                <a:latin typeface="Consolas"/>
              </a:rPr>
              <a:t>MEASURED END-TO-END PERFORMANCE</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FFFFFF"/>
                </a:solidFill>
                <a:latin typeface="Calibri"/>
              </a:rPr>
              <a:t>Every number here is live in the platform's own UI, not a rehearsal figure</a:t>
            </a:r>
          </a:p>
        </p:txBody>
      </p:sp>
      <p:sp>
        <p:nvSpPr>
          <p:cNvPr id="7" name="Rectangle 6"/>
          <p:cNvSpPr/>
          <p:nvPr/>
        </p:nvSpPr>
        <p:spPr>
          <a:xfrm>
            <a:off x="713232" y="1285875"/>
            <a:ext cx="841248" cy="34925"/>
          </a:xfrm>
          <a:prstGeom prst="rect">
            <a:avLst/>
          </a:prstGeom>
          <a:solidFill>
            <a:srgbClr val="E8B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713232" y="2435946"/>
          <a:ext cx="10911533" cy="2194560"/>
        </p:xfrm>
        <a:graphic>
          <a:graphicData uri="http://schemas.openxmlformats.org/drawingml/2006/table">
            <a:tbl>
              <a:tblPr>
                <a:tableStyleId>{5C22544A-7EE6-4342-B048-85BDC9FD1C3A}</a:tableStyleId>
              </a:tblPr>
              <a:tblGrid>
                <a:gridCol w="3932167"/>
                <a:gridCol w="1205370"/>
                <a:gridCol w="4291218"/>
                <a:gridCol w="1482778"/>
              </a:tblGrid>
              <a:tr h="274320">
                <a:tc>
                  <a:txBody>
                    <a:bodyPr wrap="square"/>
                    <a:lstStyle/>
                    <a:p>
                      <a:r>
                        <a:rPr sz="800" b="1" i="0">
                          <a:solidFill>
                            <a:srgbClr val="8A9BA8"/>
                          </a:solidFill>
                          <a:latin typeface="Consolas"/>
                        </a:rPr>
                        <a:t/>
                      </a:r>
                    </a:p>
                  </a:txBody>
                  <a:tcPr marL="64008" marR="64008" marT="41148" marB="41148" anchor="t">
                    <a:solidFill>
                      <a:srgbClr val="0E1721"/>
                    </a:solidFill>
                    <a:lnL w="0">
                      <a:noFill/>
                    </a:lnL>
                    <a:lnR w="0">
                      <a:noFill/>
                    </a:lnR>
                    <a:lnT w="0">
                      <a:noFill/>
                    </a:lnT>
                    <a:lnB w="12700" cap="flat" cmpd="sng" algn="ctr">
                      <a:solidFill>
                        <a:srgbClr val="5EA0E0"/>
                      </a:solidFill>
                    </a:lnB>
                  </a:tcPr>
                </a:tc>
                <a:tc>
                  <a:txBody>
                    <a:bodyPr wrap="square"/>
                    <a:lstStyle/>
                    <a:p>
                      <a:pPr algn="r"/>
                      <a:r>
                        <a:rPr sz="800" b="1" i="0">
                          <a:solidFill>
                            <a:srgbClr val="8A9BA8"/>
                          </a:solidFill>
                          <a:latin typeface="Consolas"/>
                        </a:rPr>
                        <a:t>BUDGET</a:t>
                      </a:r>
                    </a:p>
                  </a:txBody>
                  <a:tcPr marL="64008" marR="64008" marT="41148" marB="41148" anchor="t">
                    <a:solidFill>
                      <a:srgbClr val="0E1721"/>
                    </a:solidFill>
                    <a:lnL w="0">
                      <a:noFill/>
                    </a:lnL>
                    <a:lnR w="0">
                      <a:noFill/>
                    </a:lnR>
                    <a:lnT w="0">
                      <a:noFill/>
                    </a:lnT>
                    <a:lnB w="12700" cap="flat" cmpd="sng" algn="ctr">
                      <a:solidFill>
                        <a:srgbClr val="5EA0E0"/>
                      </a:solidFill>
                    </a:lnB>
                  </a:tcPr>
                </a:tc>
                <a:tc>
                  <a:txBody>
                    <a:bodyPr wrap="square"/>
                    <a:lstStyle/>
                    <a:p>
                      <a:pPr algn="r"/>
                      <a:r>
                        <a:rPr sz="800" b="1" i="0">
                          <a:solidFill>
                            <a:srgbClr val="8A9BA8"/>
                          </a:solidFill>
                          <a:latin typeface="Consolas"/>
                        </a:rPr>
                        <a:t>MEASURED</a:t>
                      </a:r>
                    </a:p>
                  </a:txBody>
                  <a:tcPr marL="64008" marR="64008" marT="41148" marB="41148" anchor="t">
                    <a:solidFill>
                      <a:srgbClr val="0E1721"/>
                    </a:solidFill>
                    <a:lnL w="0">
                      <a:noFill/>
                    </a:lnL>
                    <a:lnR w="0">
                      <a:noFill/>
                    </a:lnR>
                    <a:lnT w="0">
                      <a:noFill/>
                    </a:lnT>
                    <a:lnB w="12700" cap="flat" cmpd="sng" algn="ctr">
                      <a:solidFill>
                        <a:srgbClr val="5EA0E0"/>
                      </a:solidFill>
                    </a:lnB>
                  </a:tcPr>
                </a:tc>
                <a:tc>
                  <a:txBody>
                    <a:bodyPr wrap="square"/>
                    <a:lstStyle/>
                    <a:p>
                      <a:pPr algn="r"/>
                      <a:r>
                        <a:rPr sz="800" b="1" i="0">
                          <a:solidFill>
                            <a:srgbClr val="8A9BA8"/>
                          </a:solidFill>
                          <a:latin typeface="Consolas"/>
                        </a:rPr>
                        <a:t>HEADROOM</a:t>
                      </a:r>
                    </a:p>
                  </a:txBody>
                  <a:tcPr marL="64008" marR="64008" marT="41148" marB="41148" anchor="t">
                    <a:solidFill>
                      <a:srgbClr val="0E1721"/>
                    </a:solidFill>
                    <a:lnL w="0">
                      <a:noFill/>
                    </a:lnL>
                    <a:lnR w="0">
                      <a:noFill/>
                    </a:lnR>
                    <a:lnT w="0">
                      <a:noFill/>
                    </a:lnT>
                    <a:lnB w="12700" cap="flat" cmpd="sng" algn="ctr">
                      <a:solidFill>
                        <a:srgbClr val="5EA0E0"/>
                      </a:solidFill>
                    </a:lnB>
                  </a:tcPr>
                </a:tc>
              </a:tr>
              <a:tr h="274320">
                <a:tc>
                  <a:txBody>
                    <a:bodyPr wrap="square"/>
                    <a:lstStyle/>
                    <a:p>
                      <a:r>
                        <a:rPr sz="900" b="1" i="0">
                          <a:solidFill>
                            <a:srgbClr val="C2CED8"/>
                          </a:solidFill>
                          <a:latin typeface="Calibri"/>
                        </a:rPr>
                        <a:t>Vehicle trace across the state</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0" i="0">
                          <a:solidFill>
                            <a:srgbClr val="C2CED8"/>
                          </a:solidFill>
                          <a:latin typeface="Calibri"/>
                        </a:rPr>
                        <a:t>2 s</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0" i="0">
                          <a:solidFill>
                            <a:srgbClr val="5CB58C"/>
                          </a:solidFill>
                          <a:latin typeface="Calibri"/>
                        </a:rPr>
                        <a:t>26 ms</a:t>
                      </a:r>
                      <a:r>
                        <a:rPr sz="900" b="0" i="0">
                          <a:solidFill>
                            <a:srgbClr val="C2CED8"/>
                          </a:solidFill>
                          <a:latin typeface="Calibri"/>
                        </a:rPr>
                        <a:t> p50 · 31 ms p95</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1" i="0">
                          <a:solidFill>
                            <a:srgbClr val="C2CED8"/>
                          </a:solidFill>
                          <a:latin typeface="Calibri"/>
                        </a:rPr>
                        <a:t>77×</a:t>
                      </a:r>
                    </a:p>
                  </a:txBody>
                  <a:tcPr marL="64008" marR="64008" marT="41148" marB="41148" anchor="t">
                    <a:solidFill>
                      <a:srgbClr val="0E1721"/>
                    </a:solidFill>
                    <a:lnL w="0">
                      <a:noFill/>
                    </a:lnL>
                    <a:lnR w="0">
                      <a:noFill/>
                    </a:lnR>
                    <a:lnT w="0">
                      <a:noFill/>
                    </a:lnT>
                    <a:lnB w="6350" cap="flat" cmpd="sng" algn="ctr">
                      <a:solidFill>
                        <a:srgbClr val="2C3B49"/>
                      </a:solidFill>
                    </a:lnB>
                  </a:tcPr>
                </a:tc>
              </a:tr>
              <a:tr h="274320">
                <a:tc>
                  <a:txBody>
                    <a:bodyPr wrap="square"/>
                    <a:lstStyle/>
                    <a:p>
                      <a:r>
                        <a:rPr sz="900" b="1" i="0">
                          <a:solidFill>
                            <a:srgbClr val="C2CED8"/>
                          </a:solidFill>
                          <a:latin typeface="Calibri"/>
                        </a:rPr>
                        <a:t>Detection → alert</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0" i="0">
                          <a:solidFill>
                            <a:srgbClr val="C2CED8"/>
                          </a:solidFill>
                          <a:latin typeface="Calibri"/>
                        </a:rPr>
                        <a:t>5 s</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0" i="0">
                          <a:solidFill>
                            <a:srgbClr val="5CB58C"/>
                          </a:solidFill>
                          <a:latin typeface="Calibri"/>
                        </a:rPr>
                        <a:t>1.04 s</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1" i="0">
                          <a:solidFill>
                            <a:srgbClr val="C2CED8"/>
                          </a:solidFill>
                          <a:latin typeface="Calibri"/>
                        </a:rPr>
                        <a:t>4.8×</a:t>
                      </a:r>
                    </a:p>
                  </a:txBody>
                  <a:tcPr marL="64008" marR="64008" marT="41148" marB="41148" anchor="t">
                    <a:solidFill>
                      <a:srgbClr val="0E1721"/>
                    </a:solidFill>
                    <a:lnL w="0">
                      <a:noFill/>
                    </a:lnL>
                    <a:lnR w="0">
                      <a:noFill/>
                    </a:lnR>
                    <a:lnT w="0">
                      <a:noFill/>
                    </a:lnT>
                    <a:lnB w="6350" cap="flat" cmpd="sng" algn="ctr">
                      <a:solidFill>
                        <a:srgbClr val="2C3B49"/>
                      </a:solidFill>
                    </a:lnB>
                  </a:tcPr>
                </a:tc>
              </a:tr>
              <a:tr h="274320">
                <a:tc>
                  <a:txBody>
                    <a:bodyPr wrap="square"/>
                    <a:lstStyle/>
                    <a:p>
                      <a:r>
                        <a:rPr sz="900" b="1" i="0">
                          <a:solidFill>
                            <a:srgbClr val="C2CED8"/>
                          </a:solidFill>
                          <a:latin typeface="Calibri"/>
                        </a:rPr>
                        <a:t>Camera onboarding</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0" i="0">
                          <a:solidFill>
                            <a:srgbClr val="C2CED8"/>
                          </a:solidFill>
                          <a:latin typeface="Calibri"/>
                        </a:rPr>
                        <a:t>30 s</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0" i="0">
                          <a:solidFill>
                            <a:srgbClr val="5CB58C"/>
                          </a:solidFill>
                          <a:latin typeface="Calibri"/>
                        </a:rPr>
                        <a:t>5.1 s</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1" i="0">
                          <a:solidFill>
                            <a:srgbClr val="C2CED8"/>
                          </a:solidFill>
                          <a:latin typeface="Calibri"/>
                        </a:rPr>
                        <a:t>5.9×</a:t>
                      </a:r>
                    </a:p>
                  </a:txBody>
                  <a:tcPr marL="64008" marR="64008" marT="41148" marB="41148" anchor="t">
                    <a:solidFill>
                      <a:srgbClr val="0E1721"/>
                    </a:solidFill>
                    <a:lnL w="0">
                      <a:noFill/>
                    </a:lnL>
                    <a:lnR w="0">
                      <a:noFill/>
                    </a:lnR>
                    <a:lnT w="0">
                      <a:noFill/>
                    </a:lnT>
                    <a:lnB w="6350" cap="flat" cmpd="sng" algn="ctr">
                      <a:solidFill>
                        <a:srgbClr val="2C3B49"/>
                      </a:solidFill>
                    </a:lnB>
                  </a:tcPr>
                </a:tc>
              </a:tr>
              <a:tr h="274320">
                <a:tc>
                  <a:txBody>
                    <a:bodyPr wrap="square"/>
                    <a:lstStyle/>
                    <a:p>
                      <a:r>
                        <a:rPr sz="900" b="1" i="0">
                          <a:solidFill>
                            <a:srgbClr val="C2CED8"/>
                          </a:solidFill>
                          <a:latin typeface="Calibri"/>
                        </a:rPr>
                        <a:t>Click → live video, cold camera</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0" i="0">
                          <a:solidFill>
                            <a:srgbClr val="C2CED8"/>
                          </a:solidFill>
                          <a:latin typeface="Calibri"/>
                        </a:rPr>
                        <a:t>n/a</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0" i="0">
                          <a:solidFill>
                            <a:srgbClr val="5CB58C"/>
                          </a:solidFill>
                          <a:latin typeface="Calibri"/>
                        </a:rPr>
                        <a:t>0.23 s</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0" i="0">
                          <a:solidFill>
                            <a:srgbClr val="C2CED8"/>
                          </a:solidFill>
                          <a:latin typeface="Calibri"/>
                        </a:rPr>
                        <a:t>n/a</a:t>
                      </a:r>
                    </a:p>
                  </a:txBody>
                  <a:tcPr marL="64008" marR="64008" marT="41148" marB="41148" anchor="t">
                    <a:solidFill>
                      <a:srgbClr val="0E1721"/>
                    </a:solidFill>
                    <a:lnL w="0">
                      <a:noFill/>
                    </a:lnL>
                    <a:lnR w="0">
                      <a:noFill/>
                    </a:lnR>
                    <a:lnT w="0">
                      <a:noFill/>
                    </a:lnT>
                    <a:lnB w="6350" cap="flat" cmpd="sng" algn="ctr">
                      <a:solidFill>
                        <a:srgbClr val="2C3B49"/>
                      </a:solidFill>
                    </a:lnB>
                  </a:tcPr>
                </a:tc>
              </a:tr>
              <a:tr h="274320">
                <a:tc>
                  <a:txBody>
                    <a:bodyPr wrap="square"/>
                    <a:lstStyle/>
                    <a:p>
                      <a:r>
                        <a:rPr sz="900" b="1" i="0">
                          <a:solidFill>
                            <a:srgbClr val="C2CED8"/>
                          </a:solidFill>
                          <a:latin typeface="Calibri"/>
                        </a:rPr>
                        <a:t>Concurrent streams held</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0" i="0">
                          <a:solidFill>
                            <a:srgbClr val="C2CED8"/>
                          </a:solidFill>
                          <a:latin typeface="Calibri"/>
                        </a:rPr>
                        <a:t>50</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0" i="0">
                          <a:solidFill>
                            <a:srgbClr val="5CB58C"/>
                          </a:solidFill>
                          <a:latin typeface="Calibri"/>
                        </a:rPr>
                        <a:t>50 for 15 min, 0 restarts</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0" i="0">
                          <a:solidFill>
                            <a:srgbClr val="C2CED8"/>
                          </a:solidFill>
                          <a:latin typeface="Calibri"/>
                        </a:rPr>
                        <a:t>n/a</a:t>
                      </a:r>
                    </a:p>
                  </a:txBody>
                  <a:tcPr marL="64008" marR="64008" marT="41148" marB="41148" anchor="t">
                    <a:solidFill>
                      <a:srgbClr val="0E1721"/>
                    </a:solidFill>
                    <a:lnL w="0">
                      <a:noFill/>
                    </a:lnL>
                    <a:lnR w="0">
                      <a:noFill/>
                    </a:lnR>
                    <a:lnT w="0">
                      <a:noFill/>
                    </a:lnT>
                    <a:lnB w="6350" cap="flat" cmpd="sng" algn="ctr">
                      <a:solidFill>
                        <a:srgbClr val="2C3B49"/>
                      </a:solidFill>
                    </a:lnB>
                  </a:tcPr>
                </a:tc>
              </a:tr>
              <a:tr h="274320">
                <a:tc>
                  <a:txBody>
                    <a:bodyPr wrap="square"/>
                    <a:lstStyle/>
                    <a:p>
                      <a:r>
                        <a:rPr sz="900" b="1" i="0">
                          <a:solidFill>
                            <a:srgbClr val="C2CED8"/>
                          </a:solidFill>
                          <a:latin typeface="Calibri"/>
                        </a:rPr>
                        <a:t>Throughput</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0" i="0">
                          <a:solidFill>
                            <a:srgbClr val="C2CED8"/>
                          </a:solidFill>
                          <a:latin typeface="Calibri"/>
                        </a:rPr>
                        <a:t>n/a</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1" i="0">
                          <a:solidFill>
                            <a:srgbClr val="C2CED8"/>
                          </a:solidFill>
                          <a:latin typeface="Calibri"/>
                        </a:rPr>
                        <a:t>104 sightings/min</a:t>
                      </a:r>
                      <a:r>
                        <a:rPr sz="900" b="0" i="0">
                          <a:solidFill>
                            <a:srgbClr val="C2CED8"/>
                          </a:solidFill>
                          <a:latin typeface="Calibri"/>
                        </a:rPr>
                        <a:t> across 71 cameras</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0" i="0">
                          <a:solidFill>
                            <a:srgbClr val="C2CED8"/>
                          </a:solidFill>
                          <a:latin typeface="Calibri"/>
                        </a:rPr>
                        <a:t>n/a</a:t>
                      </a:r>
                    </a:p>
                  </a:txBody>
                  <a:tcPr marL="64008" marR="64008" marT="41148" marB="41148" anchor="t">
                    <a:solidFill>
                      <a:srgbClr val="0E1721"/>
                    </a:solidFill>
                    <a:lnL w="0">
                      <a:noFill/>
                    </a:lnL>
                    <a:lnR w="0">
                      <a:noFill/>
                    </a:lnR>
                    <a:lnT w="0">
                      <a:noFill/>
                    </a:lnT>
                    <a:lnB w="6350" cap="flat" cmpd="sng" algn="ctr">
                      <a:solidFill>
                        <a:srgbClr val="2C3B49"/>
                      </a:solidFill>
                    </a:lnB>
                  </a:tcPr>
                </a:tc>
              </a:tr>
              <a:tr h="274320">
                <a:tc>
                  <a:txBody>
                    <a:bodyPr wrap="square"/>
                    <a:lstStyle/>
                    <a:p>
                      <a:r>
                        <a:rPr sz="900" b="1" i="0">
                          <a:solidFill>
                            <a:srgbClr val="C2CED8"/>
                          </a:solidFill>
                          <a:latin typeface="Calibri"/>
                        </a:rPr>
                        <a:t>Plate accuracy, ANPR-grade</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0" i="0">
                          <a:solidFill>
                            <a:srgbClr val="C2CED8"/>
                          </a:solidFill>
                          <a:latin typeface="Calibri"/>
                        </a:rPr>
                        <a:t>n/a</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0" i="0">
                          <a:solidFill>
                            <a:srgbClr val="5CB58C"/>
                          </a:solidFill>
                          <a:latin typeface="Calibri"/>
                        </a:rPr>
                        <a:t>82.4%</a:t>
                      </a:r>
                      <a:r>
                        <a:rPr sz="900" b="0" i="0">
                          <a:solidFill>
                            <a:srgbClr val="C2CED8"/>
                          </a:solidFill>
                          <a:latin typeface="Calibri"/>
                        </a:rPr>
                        <a:t> exact · 95.1% within 2</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pPr algn="r"/>
                      <a:r>
                        <a:rPr sz="900" b="0" i="0">
                          <a:solidFill>
                            <a:srgbClr val="C2CED8"/>
                          </a:solidFill>
                          <a:latin typeface="Calibri"/>
                        </a:rPr>
                        <a:t>n/a</a:t>
                      </a:r>
                    </a:p>
                  </a:txBody>
                  <a:tcPr marL="64008" marR="64008" marT="41148" marB="41148" anchor="t">
                    <a:solidFill>
                      <a:srgbClr val="0E1721"/>
                    </a:solidFill>
                    <a:lnL w="0">
                      <a:noFill/>
                    </a:lnL>
                    <a:lnR w="0">
                      <a:noFill/>
                    </a:lnR>
                    <a:lnT w="0">
                      <a:noFill/>
                    </a:lnT>
                    <a:lnB w="6350" cap="flat" cmpd="sng" algn="ctr">
                      <a:solidFill>
                        <a:srgbClr val="2C3B49"/>
                      </a:solidFill>
                    </a:lnB>
                  </a:tcPr>
                </a:tc>
              </a:tr>
            </a:tbl>
          </a:graphicData>
        </a:graphic>
      </p:graphicFrame>
      <p:sp>
        <p:nvSpPr>
          <p:cNvPr id="9" name="Rectangle 8"/>
          <p:cNvSpPr/>
          <p:nvPr/>
        </p:nvSpPr>
        <p:spPr>
          <a:xfrm>
            <a:off x="713232" y="6054979"/>
            <a:ext cx="10911535" cy="9525"/>
          </a:xfrm>
          <a:prstGeom prst="rect">
            <a:avLst/>
          </a:prstGeom>
          <a:solidFill>
            <a:srgbClr val="2C3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6146419"/>
            <a:ext cx="10911535" cy="274320"/>
          </a:xfrm>
          <a:prstGeom prst="rect">
            <a:avLst/>
          </a:prstGeom>
          <a:noFill/>
        </p:spPr>
        <p:txBody>
          <a:bodyPr wrap="square" lIns="0" rIns="0" tIns="0" bIns="0">
            <a:spAutoFit/>
          </a:bodyPr>
          <a:lstStyle/>
          <a:p>
            <a:r>
              <a:rPr sz="850" b="1" i="0">
                <a:solidFill>
                  <a:srgbClr val="8A9BA8"/>
                </a:solidFill>
                <a:latin typeface="Consolas"/>
              </a:rPr>
              <a:t>869 automated tests.</a:t>
            </a:r>
            <a:r>
              <a:rPr sz="850" b="0" i="0">
                <a:solidFill>
                  <a:srgbClr val="8A9BA8"/>
                </a:solidFill>
                <a:latin typeface="Consolas"/>
              </a:rPr>
              <a:t> Every figure traces to a dated entry recording the method that produced it, which is what makes it checkable rather than asserted.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7A8A99"/>
                </a:solidFill>
                <a:latin typeface="Consolas"/>
              </a:rPr>
              <a:t>EVIDENCE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7A8A99"/>
                </a:solidFill>
                <a:latin typeface="Consolas"/>
              </a:rPr>
              <a:t>21</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7A8A99"/>
                </a:solidFill>
                <a:latin typeface="Consolas"/>
              </a:rPr>
              <a:t>THE PLATFORM MEASURES ITSELF</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0E1721"/>
                </a:solidFill>
                <a:latin typeface="Calibri"/>
              </a:rPr>
              <a:t>The previous slide is a screen in the product, not a number we typed into a deck</a:t>
            </a:r>
          </a:p>
        </p:txBody>
      </p:sp>
      <p:sp>
        <p:nvSpPr>
          <p:cNvPr id="7" name="Rectangle 6"/>
          <p:cNvSpPr/>
          <p:nvPr/>
        </p:nvSpPr>
        <p:spPr>
          <a:xfrm>
            <a:off x="713232" y="1285875"/>
            <a:ext cx="841248" cy="34925"/>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7-performance.png"/>
          <p:cNvPicPr>
            <a:picLocks noChangeAspect="1"/>
          </p:cNvPicPr>
          <p:nvPr/>
        </p:nvPicPr>
        <p:blipFill>
          <a:blip r:embed="rId2"/>
          <a:stretch>
            <a:fillRect/>
          </a:stretch>
        </p:blipFill>
        <p:spPr>
          <a:xfrm>
            <a:off x="1754082" y="1523619"/>
            <a:ext cx="8829835" cy="4313555"/>
          </a:xfrm>
          <a:prstGeom prst="rect">
            <a:avLst/>
          </a:prstGeom>
        </p:spPr>
      </p:pic>
      <p:sp>
        <p:nvSpPr>
          <p:cNvPr id="9" name="Rectangle 8"/>
          <p:cNvSpPr/>
          <p:nvPr/>
        </p:nvSpPr>
        <p:spPr>
          <a:xfrm>
            <a:off x="713232" y="591032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6001766"/>
            <a:ext cx="10911535" cy="274320"/>
          </a:xfrm>
          <a:prstGeom prst="rect">
            <a:avLst/>
          </a:prstGeom>
          <a:noFill/>
        </p:spPr>
        <p:txBody>
          <a:bodyPr wrap="square" lIns="0" rIns="0" tIns="0" bIns="0">
            <a:spAutoFit/>
          </a:bodyPr>
          <a:lstStyle/>
          <a:p>
            <a:r>
              <a:rPr sz="850" b="1" i="0">
                <a:solidFill>
                  <a:srgbClr val="7A8A99"/>
                </a:solidFill>
                <a:latin typeface="Consolas"/>
              </a:rPr>
              <a:t>The third panel is the one to read.</a:t>
            </a:r>
            <a:r>
              <a:rPr sz="850" b="0" i="0">
                <a:solidFill>
                  <a:srgbClr val="7A8A99"/>
                </a:solidFill>
                <a:latin typeface="Consolas"/>
              </a:rPr>
              <a:t> It reports work deliberately not done: 94.9% of OCR attempts shed at 76 cameras on a 20-core box. That is the capacity limit stated as a measurement, and it is why the honest sizing figure is 50 to 57 cameras per box rather than 76.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E1721"/>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2C3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8A9BA8"/>
                </a:solidFill>
                <a:latin typeface="Consolas"/>
              </a:rPr>
              <a:t>EVALUATION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8A9BA8"/>
                </a:solidFill>
                <a:latin typeface="Consolas"/>
              </a:rPr>
              <a:t>22</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8A9BA8"/>
                </a:solidFill>
                <a:latin typeface="Consolas"/>
              </a:rPr>
              <a:t>COMMON EVALUATION AREAS</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FFFFFF"/>
                </a:solidFill>
                <a:latin typeface="Calibri"/>
              </a:rPr>
              <a:t>The seven criteria, and where the evidence for each one sits</a:t>
            </a:r>
          </a:p>
        </p:txBody>
      </p:sp>
      <p:sp>
        <p:nvSpPr>
          <p:cNvPr id="7" name="Rectangle 6"/>
          <p:cNvSpPr/>
          <p:nvPr/>
        </p:nvSpPr>
        <p:spPr>
          <a:xfrm>
            <a:off x="713232" y="1285875"/>
            <a:ext cx="841248" cy="34925"/>
          </a:xfrm>
          <a:prstGeom prst="rect">
            <a:avLst/>
          </a:prstGeom>
          <a:solidFill>
            <a:srgbClr val="E8B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713232" y="2435946"/>
          <a:ext cx="10911533" cy="2194560"/>
        </p:xfrm>
        <a:graphic>
          <a:graphicData uri="http://schemas.openxmlformats.org/drawingml/2006/table">
            <a:tbl>
              <a:tblPr>
                <a:tableStyleId>{5C22544A-7EE6-4342-B048-85BDC9FD1C3A}</a:tableStyleId>
              </a:tblPr>
              <a:tblGrid>
                <a:gridCol w="643169"/>
                <a:gridCol w="3614944"/>
                <a:gridCol w="6653420"/>
              </a:tblGrid>
              <a:tr h="274320">
                <a:tc>
                  <a:txBody>
                    <a:bodyPr wrap="square"/>
                    <a:lstStyle/>
                    <a:p>
                      <a:r>
                        <a:rPr sz="800" b="1" i="0">
                          <a:solidFill>
                            <a:srgbClr val="8A9BA8"/>
                          </a:solidFill>
                          <a:latin typeface="Consolas"/>
                        </a:rPr>
                        <a:t/>
                      </a:r>
                    </a:p>
                  </a:txBody>
                  <a:tcPr marL="64008" marR="64008" marT="41148" marB="41148" anchor="t">
                    <a:solidFill>
                      <a:srgbClr val="0E1721"/>
                    </a:solidFill>
                    <a:lnL w="0">
                      <a:noFill/>
                    </a:lnL>
                    <a:lnR w="0">
                      <a:noFill/>
                    </a:lnR>
                    <a:lnT w="0">
                      <a:noFill/>
                    </a:lnT>
                    <a:lnB w="12700" cap="flat" cmpd="sng" algn="ctr">
                      <a:solidFill>
                        <a:srgbClr val="5EA0E0"/>
                      </a:solidFill>
                    </a:lnB>
                  </a:tcPr>
                </a:tc>
                <a:tc>
                  <a:txBody>
                    <a:bodyPr wrap="square"/>
                    <a:lstStyle/>
                    <a:p>
                      <a:r>
                        <a:rPr sz="800" b="1" i="0">
                          <a:solidFill>
                            <a:srgbClr val="8A9BA8"/>
                          </a:solidFill>
                          <a:latin typeface="Consolas"/>
                        </a:rPr>
                        <a:t>CRITERION</a:t>
                      </a:r>
                    </a:p>
                  </a:txBody>
                  <a:tcPr marL="64008" marR="64008" marT="41148" marB="41148" anchor="t">
                    <a:solidFill>
                      <a:srgbClr val="0E1721"/>
                    </a:solidFill>
                    <a:lnL w="0">
                      <a:noFill/>
                    </a:lnL>
                    <a:lnR w="0">
                      <a:noFill/>
                    </a:lnR>
                    <a:lnT w="0">
                      <a:noFill/>
                    </a:lnT>
                    <a:lnB w="12700" cap="flat" cmpd="sng" algn="ctr">
                      <a:solidFill>
                        <a:srgbClr val="5EA0E0"/>
                      </a:solidFill>
                    </a:lnB>
                  </a:tcPr>
                </a:tc>
                <a:tc>
                  <a:txBody>
                    <a:bodyPr wrap="square"/>
                    <a:lstStyle/>
                    <a:p>
                      <a:r>
                        <a:rPr sz="800" b="1" i="0">
                          <a:solidFill>
                            <a:srgbClr val="8A9BA8"/>
                          </a:solidFill>
                          <a:latin typeface="Consolas"/>
                        </a:rPr>
                        <a:t>EVIDENCE IN THIS SUBMISSION</a:t>
                      </a:r>
                    </a:p>
                  </a:txBody>
                  <a:tcPr marL="64008" marR="64008" marT="41148" marB="41148" anchor="t">
                    <a:solidFill>
                      <a:srgbClr val="0E1721"/>
                    </a:solidFill>
                    <a:lnL w="0">
                      <a:noFill/>
                    </a:lnL>
                    <a:lnR w="0">
                      <a:noFill/>
                    </a:lnR>
                    <a:lnT w="0">
                      <a:noFill/>
                    </a:lnT>
                    <a:lnB w="12700" cap="flat" cmpd="sng" algn="ctr">
                      <a:solidFill>
                        <a:srgbClr val="5EA0E0"/>
                      </a:solidFill>
                    </a:lnB>
                  </a:tcPr>
                </a:tc>
              </a:tr>
              <a:tr h="274320">
                <a:tc>
                  <a:txBody>
                    <a:bodyPr wrap="square"/>
                    <a:lstStyle/>
                    <a:p>
                      <a:r>
                        <a:rPr sz="900" b="0" i="0">
                          <a:solidFill>
                            <a:srgbClr val="C2CED8"/>
                          </a:solidFill>
                          <a:latin typeface="Calibri"/>
                        </a:rPr>
                        <a:t>1</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r>
                        <a:rPr sz="900" b="1" i="0">
                          <a:solidFill>
                            <a:srgbClr val="C2CED8"/>
                          </a:solidFill>
                          <a:latin typeface="Calibri"/>
                        </a:rPr>
                        <a:t>Successful test case</a:t>
                      </a:r>
                      <a:br/>
                      <a:r>
                        <a:rPr sz="900" b="0" i="0">
                          <a:solidFill>
                            <a:srgbClr val="C2CED8"/>
                          </a:solidFill>
                          <a:latin typeface="Calibri"/>
                        </a:rPr>
                        <a:t>Onboarding and operation on the government feed</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r>
                        <a:rPr sz="900" b="0" i="0">
                          <a:solidFill>
                            <a:srgbClr val="C2CED8"/>
                          </a:solidFill>
                          <a:latin typeface="Calibri"/>
                        </a:rPr>
                        <a:t>81 cameras onboarded by catalogue reconciliation, 30 of them government. Live view and recorded playback both demonstrated; ANPR output written to the index.</a:t>
                      </a:r>
                    </a:p>
                  </a:txBody>
                  <a:tcPr marL="64008" marR="64008" marT="41148" marB="41148" anchor="t">
                    <a:solidFill>
                      <a:srgbClr val="0E1721"/>
                    </a:solidFill>
                    <a:lnL w="0">
                      <a:noFill/>
                    </a:lnL>
                    <a:lnR w="0">
                      <a:noFill/>
                    </a:lnR>
                    <a:lnT w="0">
                      <a:noFill/>
                    </a:lnT>
                    <a:lnB w="6350" cap="flat" cmpd="sng" algn="ctr">
                      <a:solidFill>
                        <a:srgbClr val="2C3B49"/>
                      </a:solidFill>
                    </a:lnB>
                  </a:tcPr>
                </a:tc>
              </a:tr>
              <a:tr h="274320">
                <a:tc>
                  <a:txBody>
                    <a:bodyPr wrap="square"/>
                    <a:lstStyle/>
                    <a:p>
                      <a:r>
                        <a:rPr sz="900" b="0" i="0">
                          <a:solidFill>
                            <a:srgbClr val="C2CED8"/>
                          </a:solidFill>
                          <a:latin typeface="Calibri"/>
                        </a:rPr>
                        <a:t>2</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r>
                        <a:rPr sz="900" b="1" i="0">
                          <a:solidFill>
                            <a:srgbClr val="C2CED8"/>
                          </a:solidFill>
                          <a:latin typeface="Calibri"/>
                        </a:rPr>
                        <a:t>Solution presentation</a:t>
                      </a:r>
                      <a:br/>
                      <a:r>
                        <a:rPr sz="900" b="0" i="0">
                          <a:solidFill>
                            <a:srgbClr val="C2CED8"/>
                          </a:solidFill>
                          <a:latin typeface="Calibri"/>
                        </a:rPr>
                        <a:t>Problem understanding, model, justification</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r>
                        <a:rPr sz="900" b="0" i="0">
                          <a:solidFill>
                            <a:srgbClr val="C2CED8"/>
                          </a:solidFill>
                          <a:latin typeface="Calibri"/>
                        </a:rPr>
                        <a:t>This deck. Element 1 states the model and why Model 4 was rejected with the arithmetic; slide 2 states the constraint the whole design follows from.</a:t>
                      </a:r>
                    </a:p>
                  </a:txBody>
                  <a:tcPr marL="64008" marR="64008" marT="41148" marB="41148" anchor="t">
                    <a:solidFill>
                      <a:srgbClr val="0E1721"/>
                    </a:solidFill>
                    <a:lnL w="0">
                      <a:noFill/>
                    </a:lnL>
                    <a:lnR w="0">
                      <a:noFill/>
                    </a:lnR>
                    <a:lnT w="0">
                      <a:noFill/>
                    </a:lnT>
                    <a:lnB w="6350" cap="flat" cmpd="sng" algn="ctr">
                      <a:solidFill>
                        <a:srgbClr val="2C3B49"/>
                      </a:solidFill>
                    </a:lnB>
                  </a:tcPr>
                </a:tc>
              </a:tr>
              <a:tr h="274320">
                <a:tc>
                  <a:txBody>
                    <a:bodyPr wrap="square"/>
                    <a:lstStyle/>
                    <a:p>
                      <a:r>
                        <a:rPr sz="900" b="0" i="0">
                          <a:solidFill>
                            <a:srgbClr val="C2CED8"/>
                          </a:solidFill>
                          <a:latin typeface="Calibri"/>
                        </a:rPr>
                        <a:t>3</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r>
                        <a:rPr sz="900" b="1" i="0">
                          <a:solidFill>
                            <a:srgbClr val="C2CED8"/>
                          </a:solidFill>
                          <a:latin typeface="Calibri"/>
                        </a:rPr>
                        <a:t>Solution architecture</a:t>
                      </a:r>
                      <a:br/>
                      <a:r>
                        <a:rPr sz="900" b="0" i="0">
                          <a:solidFill>
                            <a:srgbClr val="C2CED8"/>
                          </a:solidFill>
                          <a:latin typeface="Calibri"/>
                        </a:rPr>
                        <a:t>Soundness, feasibility, security, interoperability</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r>
                        <a:rPr sz="900" b="0" i="0">
                          <a:solidFill>
                            <a:srgbClr val="C2CED8"/>
                          </a:solidFill>
                          <a:latin typeface="Calibri"/>
                        </a:rPr>
                        <a:t>Six-layer HLD, the workflow diagram on slide 9, and the interoperability and security slide. Full design in the submitted HLD document.</a:t>
                      </a:r>
                    </a:p>
                  </a:txBody>
                  <a:tcPr marL="64008" marR="64008" marT="41148" marB="41148" anchor="t">
                    <a:solidFill>
                      <a:srgbClr val="0E1721"/>
                    </a:solidFill>
                    <a:lnL w="0">
                      <a:noFill/>
                    </a:lnL>
                    <a:lnR w="0">
                      <a:noFill/>
                    </a:lnR>
                    <a:lnT w="0">
                      <a:noFill/>
                    </a:lnT>
                    <a:lnB w="6350" cap="flat" cmpd="sng" algn="ctr">
                      <a:solidFill>
                        <a:srgbClr val="2C3B49"/>
                      </a:solidFill>
                    </a:lnB>
                  </a:tcPr>
                </a:tc>
              </a:tr>
              <a:tr h="274320">
                <a:tc>
                  <a:txBody>
                    <a:bodyPr wrap="square"/>
                    <a:lstStyle/>
                    <a:p>
                      <a:r>
                        <a:rPr sz="900" b="0" i="0">
                          <a:solidFill>
                            <a:srgbClr val="C2CED8"/>
                          </a:solidFill>
                          <a:latin typeface="Calibri"/>
                        </a:rPr>
                        <a:t>4</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r>
                        <a:rPr sz="900" b="1" i="0">
                          <a:solidFill>
                            <a:srgbClr val="C2CED8"/>
                          </a:solidFill>
                          <a:latin typeface="Calibri"/>
                        </a:rPr>
                        <a:t>Working platform and demonstration</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r>
                        <a:rPr sz="900" b="0" i="0">
                          <a:solidFill>
                            <a:srgbClr val="C2CED8"/>
                          </a:solidFill>
                          <a:latin typeface="Calibri"/>
                        </a:rPr>
                        <a:t>Slides 19 and 21 are screens from the running platform. Demonstrated on both our own simulated estate and the government feed.</a:t>
                      </a:r>
                    </a:p>
                  </a:txBody>
                  <a:tcPr marL="64008" marR="64008" marT="41148" marB="41148" anchor="t">
                    <a:solidFill>
                      <a:srgbClr val="0E1721"/>
                    </a:solidFill>
                    <a:lnL w="0">
                      <a:noFill/>
                    </a:lnL>
                    <a:lnR w="0">
                      <a:noFill/>
                    </a:lnR>
                    <a:lnT w="0">
                      <a:noFill/>
                    </a:lnT>
                    <a:lnB w="6350" cap="flat" cmpd="sng" algn="ctr">
                      <a:solidFill>
                        <a:srgbClr val="2C3B49"/>
                      </a:solidFill>
                    </a:lnB>
                  </a:tcPr>
                </a:tc>
              </a:tr>
              <a:tr h="274320">
                <a:tc>
                  <a:txBody>
                    <a:bodyPr wrap="square"/>
                    <a:lstStyle/>
                    <a:p>
                      <a:r>
                        <a:rPr sz="900" b="0" i="0">
                          <a:solidFill>
                            <a:srgbClr val="C2CED8"/>
                          </a:solidFill>
                          <a:latin typeface="Calibri"/>
                        </a:rPr>
                        <a:t>5</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r>
                        <a:rPr sz="900" b="1" i="0">
                          <a:solidFill>
                            <a:srgbClr val="C2CED8"/>
                          </a:solidFill>
                          <a:latin typeface="Calibri"/>
                        </a:rPr>
                        <a:t>Video analytics output</a:t>
                      </a:r>
                      <a:br/>
                      <a:r>
                        <a:rPr sz="900" b="0" i="0">
                          <a:solidFill>
                            <a:srgbClr val="C2CED8"/>
                          </a:solidFill>
                          <a:latin typeface="Calibri"/>
                        </a:rPr>
                        <a:t>ANPR, detection, timestamps, reports</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r>
                        <a:rPr sz="900" b="0" i="0">
                          <a:solidFill>
                            <a:srgbClr val="C2CED8"/>
                          </a:solidFill>
                          <a:latin typeface="Calibri"/>
                        </a:rPr>
                        <a:t>ANPR with per-condition accuracy, vehicle detection and tracking, tamper detection, appearance attributes, and CSV and PDF detection reports carrying the evidence crop.</a:t>
                      </a:r>
                    </a:p>
                  </a:txBody>
                  <a:tcPr marL="64008" marR="64008" marT="41148" marB="41148" anchor="t">
                    <a:solidFill>
                      <a:srgbClr val="0E1721"/>
                    </a:solidFill>
                    <a:lnL w="0">
                      <a:noFill/>
                    </a:lnL>
                    <a:lnR w="0">
                      <a:noFill/>
                    </a:lnR>
                    <a:lnT w="0">
                      <a:noFill/>
                    </a:lnT>
                    <a:lnB w="6350" cap="flat" cmpd="sng" algn="ctr">
                      <a:solidFill>
                        <a:srgbClr val="2C3B49"/>
                      </a:solidFill>
                    </a:lnB>
                  </a:tcPr>
                </a:tc>
              </a:tr>
              <a:tr h="274320">
                <a:tc>
                  <a:txBody>
                    <a:bodyPr wrap="square"/>
                    <a:lstStyle/>
                    <a:p>
                      <a:r>
                        <a:rPr sz="900" b="0" i="0">
                          <a:solidFill>
                            <a:srgbClr val="C2CED8"/>
                          </a:solidFill>
                          <a:latin typeface="Calibri"/>
                        </a:rPr>
                        <a:t>6</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r>
                        <a:rPr sz="900" b="1" i="0">
                          <a:solidFill>
                            <a:srgbClr val="C2CED8"/>
                          </a:solidFill>
                          <a:latin typeface="Calibri"/>
                        </a:rPr>
                        <a:t>Scalability and PoC readiness</a:t>
                      </a:r>
                      <a:br/>
                      <a:r>
                        <a:rPr sz="900" b="0" i="0">
                          <a:solidFill>
                            <a:srgbClr val="C2CED8"/>
                          </a:solidFill>
                          <a:latin typeface="Calibri"/>
                        </a:rPr>
                        <a:t>Toward 80,000 cameras</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r>
                        <a:rPr sz="900" b="0" i="0">
                          <a:solidFill>
                            <a:srgbClr val="C2CED8"/>
                          </a:solidFill>
                          <a:latin typeface="Calibri"/>
                        </a:rPr>
                        <a:t>Measured capacity per box, sharding by advisory lock with no orchestrator, and the shed rate published rather than hidden. Slides 16 and 21.</a:t>
                      </a:r>
                    </a:p>
                  </a:txBody>
                  <a:tcPr marL="64008" marR="64008" marT="41148" marB="41148" anchor="t">
                    <a:solidFill>
                      <a:srgbClr val="0E1721"/>
                    </a:solidFill>
                    <a:lnL w="0">
                      <a:noFill/>
                    </a:lnL>
                    <a:lnR w="0">
                      <a:noFill/>
                    </a:lnR>
                    <a:lnT w="0">
                      <a:noFill/>
                    </a:lnT>
                    <a:lnB w="6350" cap="flat" cmpd="sng" algn="ctr">
                      <a:solidFill>
                        <a:srgbClr val="2C3B49"/>
                      </a:solidFill>
                    </a:lnB>
                  </a:tcPr>
                </a:tc>
              </a:tr>
              <a:tr h="274320">
                <a:tc>
                  <a:txBody>
                    <a:bodyPr wrap="square"/>
                    <a:lstStyle/>
                    <a:p>
                      <a:r>
                        <a:rPr sz="900" b="0" i="0">
                          <a:solidFill>
                            <a:srgbClr val="C2CED8"/>
                          </a:solidFill>
                          <a:latin typeface="Calibri"/>
                        </a:rPr>
                        <a:t>7</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r>
                        <a:rPr sz="900" b="1" i="0">
                          <a:solidFill>
                            <a:srgbClr val="C2CED8"/>
                          </a:solidFill>
                          <a:latin typeface="Calibri"/>
                        </a:rPr>
                        <a:t>Submission completeness</a:t>
                      </a:r>
                    </a:p>
                  </a:txBody>
                  <a:tcPr marL="64008" marR="64008" marT="41148" marB="41148" anchor="t">
                    <a:solidFill>
                      <a:srgbClr val="0E1721"/>
                    </a:solidFill>
                    <a:lnL w="0">
                      <a:noFill/>
                    </a:lnL>
                    <a:lnR w="0">
                      <a:noFill/>
                    </a:lnR>
                    <a:lnT w="0">
                      <a:noFill/>
                    </a:lnT>
                    <a:lnB w="6350" cap="flat" cmpd="sng" algn="ctr">
                      <a:solidFill>
                        <a:srgbClr val="2C3B49"/>
                      </a:solidFill>
                    </a:lnB>
                  </a:tcPr>
                </a:tc>
                <a:tc>
                  <a:txBody>
                    <a:bodyPr wrap="square"/>
                    <a:lstStyle/>
                    <a:p>
                      <a:r>
                        <a:rPr sz="900" b="0" i="0">
                          <a:solidFill>
                            <a:srgbClr val="C2CED8"/>
                          </a:solidFill>
                          <a:latin typeface="Calibri"/>
                        </a:rPr>
                        <a:t>Deck, HLD, workflow diagram, demonstration video, public repository, live instance with a viewer account, and API documentation.</a:t>
                      </a:r>
                    </a:p>
                  </a:txBody>
                  <a:tcPr marL="64008" marR="64008" marT="41148" marB="41148" anchor="t">
                    <a:solidFill>
                      <a:srgbClr val="0E1721"/>
                    </a:solidFill>
                    <a:lnL w="0">
                      <a:noFill/>
                    </a:lnL>
                    <a:lnR w="0">
                      <a:noFill/>
                    </a:lnR>
                    <a:lnT w="0">
                      <a:noFill/>
                    </a:lnT>
                    <a:lnB w="6350" cap="flat" cmpd="sng" algn="ctr">
                      <a:solidFill>
                        <a:srgbClr val="2C3B49"/>
                      </a:solidFill>
                    </a:lnB>
                  </a:tcPr>
                </a:tc>
              </a:tr>
            </a:tbl>
          </a:graphicData>
        </a:graphic>
      </p:graphicFrame>
      <p:sp>
        <p:nvSpPr>
          <p:cNvPr id="9" name="Rectangle 8"/>
          <p:cNvSpPr/>
          <p:nvPr/>
        </p:nvSpPr>
        <p:spPr>
          <a:xfrm>
            <a:off x="713232" y="6054979"/>
            <a:ext cx="10911535" cy="9525"/>
          </a:xfrm>
          <a:prstGeom prst="rect">
            <a:avLst/>
          </a:prstGeom>
          <a:solidFill>
            <a:srgbClr val="2C3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6146419"/>
            <a:ext cx="10911535" cy="274320"/>
          </a:xfrm>
          <a:prstGeom prst="rect">
            <a:avLst/>
          </a:prstGeom>
          <a:noFill/>
        </p:spPr>
        <p:txBody>
          <a:bodyPr wrap="square" lIns="0" rIns="0" tIns="0" bIns="0">
            <a:spAutoFit/>
          </a:bodyPr>
          <a:lstStyle/>
          <a:p>
            <a:r>
              <a:rPr sz="850" b="1" i="0">
                <a:solidFill>
                  <a:srgbClr val="8A9BA8"/>
                </a:solidFill>
                <a:latin typeface="Consolas"/>
              </a:rPr>
              <a:t>Nothing in this column is aspirational.</a:t>
            </a:r>
            <a:r>
              <a:rPr sz="850" b="0" i="0">
                <a:solidFill>
                  <a:srgbClr val="8A9BA8"/>
                </a:solidFill>
                <a:latin typeface="Consolas"/>
              </a:rPr>
              <a:t> Where a capability is designed rather than built, it is labelled as such on slide 17, and the limits we know about are stated on the final slide rather than left for an evaluator to find.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7A8A99"/>
                </a:solidFill>
                <a:latin typeface="Consolas"/>
              </a:rPr>
              <a:t>EVALUATION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7A8A99"/>
                </a:solidFill>
                <a:latin typeface="Consolas"/>
              </a:rPr>
              <a:t>23</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7A8A99"/>
                </a:solidFill>
                <a:latin typeface="Consolas"/>
              </a:rPr>
              <a:t>BONUS CONSIDERATIONS</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0E1721"/>
                </a:solidFill>
                <a:latin typeface="Calibri"/>
              </a:rPr>
              <a:t>Each of the six, and what we built against it</a:t>
            </a:r>
          </a:p>
        </p:txBody>
      </p:sp>
      <p:sp>
        <p:nvSpPr>
          <p:cNvPr id="7" name="Rectangle 6"/>
          <p:cNvSpPr/>
          <p:nvPr/>
        </p:nvSpPr>
        <p:spPr>
          <a:xfrm>
            <a:off x="713232" y="1285875"/>
            <a:ext cx="841248" cy="34925"/>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964495"/>
            <a:ext cx="3478682" cy="1557121"/>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750" b="1" i="0" spc="60">
                <a:solidFill>
                  <a:srgbClr val="B08800"/>
                </a:solidFill>
                <a:latin typeface="Consolas"/>
              </a:rPr>
              <a:t>NOVEL HYBRID ARCHITECTURE</a:t>
            </a:r>
          </a:p>
          <a:p>
            <a:pPr algn="l">
              <a:spcAft>
                <a:spcPts val="400"/>
              </a:spcAft>
            </a:pPr>
            <a:r>
              <a:rPr sz="1200" b="1" i="0">
                <a:solidFill>
                  <a:srgbClr val="0E1721"/>
                </a:solidFill>
                <a:latin typeface="Calibri"/>
              </a:rPr>
              <a:t>All three models, not a choice between them</a:t>
            </a:r>
          </a:p>
          <a:p>
            <a:pPr algn="l">
              <a:spcAft>
                <a:spcPts val="300"/>
              </a:spcAft>
            </a:pPr>
            <a:r>
              <a:rPr sz="980" b="0" i="0">
                <a:solidFill>
                  <a:srgbClr val="47586A"/>
                </a:solidFill>
                <a:latin typeface="Calibri"/>
              </a:rPr>
              <a:t>Registry as control plane, direct feed access for analytics, adapters for everything that does not fit. The registry is mandatory; the other two are how it earns its keep.</a:t>
            </a:r>
          </a:p>
        </p:txBody>
      </p:sp>
      <p:sp>
        <p:nvSpPr>
          <p:cNvPr id="9" name="Rectangle 8"/>
          <p:cNvSpPr/>
          <p:nvPr/>
        </p:nvSpPr>
        <p:spPr>
          <a:xfrm>
            <a:off x="4429658" y="1964495"/>
            <a:ext cx="3478682" cy="1557121"/>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750" b="1" i="0" spc="60">
                <a:solidFill>
                  <a:srgbClr val="B08800"/>
                </a:solidFill>
                <a:latin typeface="Consolas"/>
              </a:rPr>
              <a:t>CROSS-CAMERA CORRELATION</a:t>
            </a:r>
          </a:p>
          <a:p>
            <a:pPr algn="l">
              <a:spcAft>
                <a:spcPts val="400"/>
              </a:spcAft>
            </a:pPr>
            <a:r>
              <a:rPr sz="1200" b="1" i="0">
                <a:solidFill>
                  <a:srgbClr val="0E1721"/>
                </a:solidFill>
                <a:latin typeface="Calibri"/>
              </a:rPr>
              <a:t>Route reconstruction in 26 ms</a:t>
            </a:r>
          </a:p>
          <a:p>
            <a:pPr algn="l">
              <a:spcAft>
                <a:spcPts val="300"/>
              </a:spcAft>
            </a:pPr>
            <a:r>
              <a:rPr sz="980" b="0" i="0">
                <a:solidFill>
                  <a:srgbClr val="47586A"/>
                </a:solidFill>
                <a:latin typeface="Calibri"/>
              </a:rPr>
              <a:t>Road-snapped through OSRM, with per-hop plausibility. An impossible hop splits the journey and flags a probable cloned plate rather than being discarded.</a:t>
            </a:r>
          </a:p>
        </p:txBody>
      </p:sp>
      <p:sp>
        <p:nvSpPr>
          <p:cNvPr id="10" name="Rectangle 9"/>
          <p:cNvSpPr/>
          <p:nvPr/>
        </p:nvSpPr>
        <p:spPr>
          <a:xfrm>
            <a:off x="8146084" y="1964495"/>
            <a:ext cx="3478682" cy="1557121"/>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750" b="1" i="0" spc="60">
                <a:solidFill>
                  <a:srgbClr val="B08800"/>
                </a:solidFill>
                <a:latin typeface="Consolas"/>
              </a:rPr>
              <a:t>ANALYTICS BEYOND ANPR</a:t>
            </a:r>
          </a:p>
          <a:p>
            <a:pPr algn="l">
              <a:spcAft>
                <a:spcPts val="400"/>
              </a:spcAft>
            </a:pPr>
            <a:r>
              <a:rPr sz="1200" b="1" i="0">
                <a:solidFill>
                  <a:srgbClr val="0E1721"/>
                </a:solidFill>
                <a:latin typeface="Calibri"/>
              </a:rPr>
              <a:t>Four more, all shipped</a:t>
            </a:r>
          </a:p>
          <a:p>
            <a:pPr algn="l">
              <a:spcAft>
                <a:spcPts val="300"/>
              </a:spcAft>
            </a:pPr>
            <a:r>
              <a:rPr sz="980" b="0" i="0">
                <a:solidFill>
                  <a:srgbClr val="47586A"/>
                </a:solidFill>
                <a:latin typeface="Calibri"/>
              </a:rPr>
              <a:t>Vehicle detection and tracking, camera tamper detection, appearance attributes for feeds that cannot resolve a plate, and face detection as a disabled plugin proving the pipeline takes modules.</a:t>
            </a:r>
          </a:p>
        </p:txBody>
      </p:sp>
      <p:sp>
        <p:nvSpPr>
          <p:cNvPr id="11" name="Rectangle 10"/>
          <p:cNvSpPr/>
          <p:nvPr/>
        </p:nvSpPr>
        <p:spPr>
          <a:xfrm>
            <a:off x="713232" y="3795936"/>
            <a:ext cx="3478682" cy="1557121"/>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750" b="1" i="0" spc="60">
                <a:solidFill>
                  <a:srgbClr val="B08800"/>
                </a:solidFill>
                <a:latin typeface="Consolas"/>
              </a:rPr>
              <a:t>EDGE AND BANDWIDTH</a:t>
            </a:r>
          </a:p>
          <a:p>
            <a:pPr algn="l">
              <a:spcAft>
                <a:spcPts val="400"/>
              </a:spcAft>
            </a:pPr>
            <a:r>
              <a:rPr sz="1200" b="1" i="0">
                <a:solidFill>
                  <a:srgbClr val="0E1721"/>
                </a:solidFill>
                <a:latin typeface="Calibri"/>
              </a:rPr>
              <a:t>About 0.5 kbit/s per camera</a:t>
            </a:r>
          </a:p>
          <a:p>
            <a:pPr algn="l">
              <a:spcAft>
                <a:spcPts val="300"/>
              </a:spcAft>
            </a:pPr>
            <a:r>
              <a:rPr sz="980" b="0" i="0">
                <a:solidFill>
                  <a:srgbClr val="47586A"/>
                </a:solidFill>
                <a:latin typeface="Calibri"/>
              </a:rPr>
              <a:t>Analytics run beside the camera and only metadata crosses the link. Video is pulled on demand and released 45 s after the last viewer, so cost is per viewer, not per camera.</a:t>
            </a:r>
          </a:p>
        </p:txBody>
      </p:sp>
      <p:sp>
        <p:nvSpPr>
          <p:cNvPr id="12" name="Rectangle 11"/>
          <p:cNvSpPr/>
          <p:nvPr/>
        </p:nvSpPr>
        <p:spPr>
          <a:xfrm>
            <a:off x="4429658" y="3795936"/>
            <a:ext cx="3478682" cy="1557121"/>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750" b="1" i="0" spc="60">
                <a:solidFill>
                  <a:srgbClr val="B08800"/>
                </a:solidFill>
                <a:latin typeface="Consolas"/>
              </a:rPr>
              <a:t>SECURITY AND PRIVACY</a:t>
            </a:r>
          </a:p>
          <a:p>
            <a:pPr algn="l">
              <a:spcAft>
                <a:spcPts val="400"/>
              </a:spcAft>
            </a:pPr>
            <a:r>
              <a:rPr sz="1200" b="1" i="0">
                <a:solidFill>
                  <a:srgbClr val="0E1721"/>
                </a:solidFill>
                <a:latin typeface="Calibri"/>
              </a:rPr>
              <a:t>Audited, role-split, crops not frames</a:t>
            </a:r>
          </a:p>
          <a:p>
            <a:pPr algn="l">
              <a:spcAft>
                <a:spcPts val="300"/>
              </a:spcAft>
            </a:pPr>
            <a:r>
              <a:rPr sz="980" b="0" i="0">
                <a:solidFill>
                  <a:srgbClr val="47586A"/>
                </a:solidFill>
                <a:latin typeface="Calibri"/>
              </a:rPr>
              <a:t>Every view, search, trace and export is recorded in an append-only log. Two roles, and the evaluation account is read-only by API enforcement. One 8 kB evidence crop per sighting; no recorded video.</a:t>
            </a:r>
          </a:p>
        </p:txBody>
      </p:sp>
      <p:sp>
        <p:nvSpPr>
          <p:cNvPr id="13" name="Rectangle 12"/>
          <p:cNvSpPr/>
          <p:nvPr/>
        </p:nvSpPr>
        <p:spPr>
          <a:xfrm>
            <a:off x="8146084" y="3795936"/>
            <a:ext cx="3478682" cy="1557121"/>
          </a:xfrm>
          <a:prstGeom prst="rect">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18872" bIns="118872"/>
          <a:lstStyle/>
          <a:p>
            <a:pPr algn="l">
              <a:spcAft>
                <a:spcPts val="400"/>
              </a:spcAft>
            </a:pPr>
            <a:r>
              <a:rPr sz="750" b="1" i="0" spc="60">
                <a:solidFill>
                  <a:srgbClr val="B08800"/>
                </a:solidFill>
                <a:latin typeface="Consolas"/>
              </a:rPr>
              <a:t>DASHBOARDS AND APIS</a:t>
            </a:r>
          </a:p>
          <a:p>
            <a:pPr algn="l">
              <a:spcAft>
                <a:spcPts val="400"/>
              </a:spcAft>
            </a:pPr>
            <a:r>
              <a:rPr sz="1200" b="1" i="0">
                <a:solidFill>
                  <a:srgbClr val="0E1721"/>
                </a:solidFill>
                <a:latin typeface="Calibri"/>
              </a:rPr>
              <a:t>Integration-ready by default</a:t>
            </a:r>
          </a:p>
          <a:p>
            <a:pPr algn="l">
              <a:spcAft>
                <a:spcPts val="300"/>
              </a:spcAft>
            </a:pPr>
            <a:r>
              <a:rPr sz="980" b="0" i="0">
                <a:solidFill>
                  <a:srgbClr val="47586A"/>
                </a:solidFill>
                <a:latin typeface="Calibri"/>
              </a:rPr>
              <a:t>GIS console, alert desk, journey explorer and a live performance page. Every capability is an OpenAPI-documented endpoint, with GeoJSON for anything geographic.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13232" y="643737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528816"/>
            <a:ext cx="10180015" cy="219456"/>
          </a:xfrm>
          <a:prstGeom prst="rect">
            <a:avLst/>
          </a:prstGeom>
          <a:noFill/>
        </p:spPr>
        <p:txBody>
          <a:bodyPr wrap="square" lIns="0" rIns="0" tIns="0" bIns="0">
            <a:spAutoFit/>
          </a:bodyPr>
          <a:lstStyle/>
          <a:p>
            <a:r>
              <a:rPr sz="750" b="0" i="0">
                <a:solidFill>
                  <a:srgbClr val="7A8A99"/>
                </a:solidFill>
                <a:latin typeface="Consolas"/>
              </a:rPr>
              <a:t>CREDIBILITY   ·   Gujarat Police Hackathon 2026  ·  Statewide CCTV Integration</a:t>
            </a:r>
          </a:p>
        </p:txBody>
      </p:sp>
      <p:sp>
        <p:nvSpPr>
          <p:cNvPr id="4" name="TextBox 3"/>
          <p:cNvSpPr txBox="1"/>
          <p:nvPr/>
        </p:nvSpPr>
        <p:spPr>
          <a:xfrm>
            <a:off x="10893247" y="6528816"/>
            <a:ext cx="731520" cy="219456"/>
          </a:xfrm>
          <a:prstGeom prst="rect">
            <a:avLst/>
          </a:prstGeom>
          <a:noFill/>
        </p:spPr>
        <p:txBody>
          <a:bodyPr wrap="square" lIns="0" rIns="0" tIns="0" bIns="0">
            <a:spAutoFit/>
          </a:bodyPr>
          <a:lstStyle/>
          <a:p>
            <a:pPr algn="r"/>
            <a:r>
              <a:rPr sz="750" b="1" i="0">
                <a:solidFill>
                  <a:srgbClr val="7A8A99"/>
                </a:solidFill>
                <a:latin typeface="Consolas"/>
              </a:rPr>
              <a:t>24</a:t>
            </a:r>
          </a:p>
        </p:txBody>
      </p:sp>
      <p:sp>
        <p:nvSpPr>
          <p:cNvPr id="5" name="TextBox 4"/>
          <p:cNvSpPr txBox="1"/>
          <p:nvPr/>
        </p:nvSpPr>
        <p:spPr>
          <a:xfrm>
            <a:off x="713232" y="530352"/>
            <a:ext cx="10911535" cy="274320"/>
          </a:xfrm>
          <a:prstGeom prst="rect">
            <a:avLst/>
          </a:prstGeom>
          <a:noFill/>
        </p:spPr>
        <p:txBody>
          <a:bodyPr wrap="square" lIns="0" rIns="0" tIns="0" bIns="0">
            <a:spAutoFit/>
          </a:bodyPr>
          <a:lstStyle/>
          <a:p>
            <a:r>
              <a:rPr sz="850" b="0" i="0" spc="90">
                <a:solidFill>
                  <a:srgbClr val="7A8A99"/>
                </a:solidFill>
                <a:latin typeface="Consolas"/>
              </a:rPr>
              <a:t>WHAT WE DO NOT CLAIM</a:t>
            </a:r>
          </a:p>
        </p:txBody>
      </p:sp>
      <p:sp>
        <p:nvSpPr>
          <p:cNvPr id="6" name="TextBox 5"/>
          <p:cNvSpPr txBox="1"/>
          <p:nvPr/>
        </p:nvSpPr>
        <p:spPr>
          <a:xfrm>
            <a:off x="713232" y="766445"/>
            <a:ext cx="10911535" cy="822960"/>
          </a:xfrm>
          <a:prstGeom prst="rect">
            <a:avLst/>
          </a:prstGeom>
          <a:noFill/>
        </p:spPr>
        <p:txBody>
          <a:bodyPr wrap="square" lIns="0" rIns="0" tIns="0" bIns="0">
            <a:spAutoFit/>
          </a:bodyPr>
          <a:lstStyle/>
          <a:p>
            <a:r>
              <a:rPr sz="2300" b="1" i="0">
                <a:solidFill>
                  <a:srgbClr val="0E1721"/>
                </a:solidFill>
                <a:latin typeface="Calibri"/>
              </a:rPr>
              <a:t>A proposal that lists only strengths cannot be checked</a:t>
            </a:r>
          </a:p>
        </p:txBody>
      </p:sp>
      <p:sp>
        <p:nvSpPr>
          <p:cNvPr id="7" name="Rectangle 6"/>
          <p:cNvSpPr/>
          <p:nvPr/>
        </p:nvSpPr>
        <p:spPr>
          <a:xfrm>
            <a:off x="713232" y="1285875"/>
            <a:ext cx="841248" cy="34925"/>
          </a:xfrm>
          <a:prstGeom prst="rect">
            <a:avLst/>
          </a:prstGeom>
          <a:solidFill>
            <a:srgbClr val="B0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2195916"/>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433660"/>
            <a:ext cx="10911535" cy="274320"/>
          </a:xfrm>
          <a:prstGeom prst="rect">
            <a:avLst/>
          </a:prstGeom>
          <a:noFill/>
        </p:spPr>
        <p:txBody>
          <a:bodyPr wrap="square" lIns="0" rIns="0" tIns="0" bIns="0">
            <a:spAutoFit/>
          </a:bodyPr>
          <a:lstStyle/>
          <a:p>
            <a:pPr>
              <a:spcAft>
                <a:spcPts val="500"/>
              </a:spcAft>
            </a:pPr>
            <a:r>
              <a:rPr sz="1050" b="1" i="0">
                <a:solidFill>
                  <a:srgbClr val="B08800"/>
                </a:solidFill>
                <a:latin typeface="Calibri"/>
              </a:rPr>
              <a:t>▪  </a:t>
            </a:r>
            <a:r>
              <a:rPr sz="1050" b="1" i="0">
                <a:solidFill>
                  <a:srgbClr val="47586A"/>
                </a:solidFill>
                <a:latin typeface="Calibri"/>
              </a:rPr>
              <a:t>All 30 government cameras fall below ANPR grade, and none of the 50 simulated ones do</a:t>
            </a:r>
            <a:r>
              <a:rPr sz="1050" b="0" i="0">
                <a:solidFill>
                  <a:srgbClr val="47586A"/>
                </a:solidFill>
                <a:latin typeface="Calibri"/>
              </a:rPr>
              <a:t>, the platform grades this itself, from crops it measured. Their crops average </a:t>
            </a:r>
            <a:r>
              <a:rPr sz="1050" b="1" i="0">
                <a:solidFill>
                  <a:srgbClr val="47586A"/>
                </a:solidFill>
                <a:latin typeface="Calibri"/>
              </a:rPr>
              <a:t>66 px</a:t>
            </a:r>
            <a:r>
              <a:rPr sz="1050" b="0" i="0">
                <a:solidFill>
                  <a:srgbClr val="47586A"/>
                </a:solidFill>
                <a:latin typeface="Calibri"/>
              </a:rPr>
              <a:t> across, about 7 px per character. They are correctly deployed situational-awareness views. Every accuracy figure here is </a:t>
            </a:r>
            <a:r>
              <a:rPr sz="1050" b="1" i="0">
                <a:solidFill>
                  <a:srgbClr val="47586A"/>
                </a:solidFill>
                <a:latin typeface="Calibri"/>
              </a:rPr>
              <a:t>scoped to ANPR-grade cameras</a:t>
            </a:r>
            <a:r>
              <a:rPr sz="1050" b="0" i="0">
                <a:solidFill>
                  <a:srgbClr val="47586A"/>
                </a:solidFill>
                <a:latin typeface="Calibri"/>
              </a:rPr>
              <a:t>. Measured live on 14 Sep with the learned detectors: 344 real vehicles in 10 minutes, boxes on real plates, </a:t>
            </a:r>
            <a:r>
              <a:rPr sz="1050" b="1" i="0">
                <a:solidFill>
                  <a:srgbClr val="47586A"/>
                </a:solidFill>
                <a:latin typeface="Calibri"/>
              </a:rPr>
              <a:t>median plate width 29 px</a:t>
            </a:r>
            <a:r>
              <a:rPr sz="1050" b="0" i="0">
                <a:solidFill>
                  <a:srgbClr val="47586A"/>
                </a:solidFill>
                <a:latin typeface="Calibri"/>
              </a:rPr>
              <a:t> and </a:t>
            </a:r>
            <a:r>
              <a:rPr sz="1050" b="1" i="0">
                <a:solidFill>
                  <a:srgbClr val="47586A"/>
                </a:solidFill>
                <a:latin typeface="Calibri"/>
              </a:rPr>
              <a:t>0 valid plates</a:t>
            </a:r>
            <a:r>
              <a:rPr sz="1050" b="0" i="0">
                <a:solidFill>
                  <a:srgbClr val="47586A"/>
                </a:solidFill>
                <a:latin typeface="Calibri"/>
              </a:rPr>
              <a:t> from any reader we tested; the report lists detected vehicles with type, colour and time.</a:t>
            </a:r>
          </a:p>
          <a:p>
            <a:pPr>
              <a:spcAft>
                <a:spcPts val="500"/>
              </a:spcAft>
            </a:pPr>
            <a:r>
              <a:rPr sz="1050" b="1" i="0">
                <a:solidFill>
                  <a:srgbClr val="B08800"/>
                </a:solidFill>
                <a:latin typeface="Calibri"/>
              </a:rPr>
              <a:t>▪  </a:t>
            </a:r>
            <a:r>
              <a:rPr sz="1050" b="1" i="0">
                <a:solidFill>
                  <a:srgbClr val="47586A"/>
                </a:solidFill>
                <a:latin typeface="Calibri"/>
              </a:rPr>
              <a:t>Night accuracy was 58.6% exact with Tesseract.</a:t>
            </a:r>
            <a:r>
              <a:rPr sz="1050" b="0" i="0">
                <a:solidFill>
                  <a:srgbClr val="47586A"/>
                </a:solidFill>
                <a:latin typeface="Calibri"/>
              </a:rPr>
              <a:t> docTR, now the default, finds 62% of night plates against 35% on the same clips.</a:t>
            </a:r>
          </a:p>
          <a:p>
            <a:pPr>
              <a:spcAft>
                <a:spcPts val="500"/>
              </a:spcAft>
            </a:pPr>
            <a:r>
              <a:rPr sz="1050" b="1" i="0">
                <a:solidFill>
                  <a:srgbClr val="B08800"/>
                </a:solidFill>
                <a:latin typeface="Calibri"/>
              </a:rPr>
              <a:t>▪  </a:t>
            </a:r>
            <a:r>
              <a:rPr sz="1050" b="1" i="0">
                <a:solidFill>
                  <a:srgbClr val="47586A"/>
                </a:solidFill>
                <a:latin typeface="Calibri"/>
              </a:rPr>
              <a:t>A vehicle id joined by appearance is a lead, not an identification.</a:t>
            </a:r>
            <a:r>
              <a:rPr sz="1050" b="0" i="0">
                <a:solidFill>
                  <a:srgbClr val="47586A"/>
                </a:solidFill>
                <a:latin typeface="Calibri"/>
              </a:rPr>
              <a:t> 43 links checked by eye on the government cameras: 34 right, 7 wrong, 2 unclear; at the shipped threshold 16 of 17 were right. </a:t>
            </a:r>
            <a:r>
              <a:rPr sz="1050" b="1" i="0">
                <a:solidFill>
                  <a:srgbClr val="47586A"/>
                </a:solidFill>
                <a:latin typeface="Calibri"/>
              </a:rPr>
              <a:t>None crossed cameras</a:t>
            </a:r>
            <a:r>
              <a:rPr sz="1050" b="0" i="0">
                <a:solidFill>
                  <a:srgbClr val="47586A"/>
                </a:solidFill>
                <a:latin typeface="Calibri"/>
              </a:rPr>
              <a:t>, so there it re-finds a vehicle on one camera rather than following it between cameras. The plate trace never follows an appearance link.</a:t>
            </a:r>
          </a:p>
          <a:p>
            <a:pPr>
              <a:spcAft>
                <a:spcPts val="500"/>
              </a:spcAft>
            </a:pPr>
            <a:r>
              <a:rPr sz="1050" b="1" i="0">
                <a:solidFill>
                  <a:srgbClr val="B08800"/>
                </a:solidFill>
                <a:latin typeface="Calibri"/>
              </a:rPr>
              <a:t>▪  </a:t>
            </a:r>
            <a:r>
              <a:rPr sz="1050" b="1" i="0">
                <a:solidFill>
                  <a:srgbClr val="47586A"/>
                </a:solidFill>
                <a:latin typeface="Calibri"/>
              </a:rPr>
              <a:t>Edge autonomy, push notification routing, mTLS and the vendor VMS adapters are designed, not built.</a:t>
            </a:r>
            <a:r>
              <a:rPr sz="1050" b="0" i="0">
                <a:solidFill>
                  <a:srgbClr val="47586A"/>
                </a:solidFill>
                <a:latin typeface="Calibri"/>
              </a:rPr>
              <a:t> They are in the technical proposal because the architecture is incomplete without them, and labelled because a proposal that blurs built and specified cannot be trusted on either.</a:t>
            </a:r>
          </a:p>
          <a:p>
            <a:pPr>
              <a:spcAft>
                <a:spcPts val="500"/>
              </a:spcAft>
            </a:pPr>
            <a:r>
              <a:rPr sz="1050" b="1" i="0">
                <a:solidFill>
                  <a:srgbClr val="B08800"/>
                </a:solidFill>
                <a:latin typeface="Calibri"/>
              </a:rPr>
              <a:t>▪  </a:t>
            </a:r>
            <a:r>
              <a:rPr sz="1050" b="1" i="0">
                <a:solidFill>
                  <a:srgbClr val="47586A"/>
                </a:solidFill>
                <a:latin typeface="Calibri"/>
              </a:rPr>
              <a:t>Watchlist data is representative, not live.</a:t>
            </a:r>
            <a:r>
              <a:rPr sz="1050" b="0" i="0">
                <a:solidFill>
                  <a:srgbClr val="47586A"/>
                </a:solidFill>
                <a:latin typeface="Calibri"/>
              </a:rPr>
              <a:t> No team has live VAHAN access for a hackathon.</a:t>
            </a:r>
          </a:p>
          <a:p>
            <a:pPr>
              <a:spcAft>
                <a:spcPts val="500"/>
              </a:spcAft>
            </a:pPr>
            <a:r>
              <a:rPr sz="1050" b="1" i="0">
                <a:solidFill>
                  <a:srgbClr val="B08800"/>
                </a:solidFill>
                <a:latin typeface="Calibri"/>
              </a:rPr>
              <a:t>▪  </a:t>
            </a:r>
            <a:r>
              <a:rPr sz="1050" b="1" i="0">
                <a:solidFill>
                  <a:srgbClr val="47586A"/>
                </a:solidFill>
                <a:latin typeface="Calibri"/>
              </a:rPr>
              <a:t>The 1,600-node figure assumes traffic like the measured corridor's.</a:t>
            </a:r>
            <a:r>
              <a:rPr sz="1050" b="0" i="0">
                <a:solidFill>
                  <a:srgbClr val="47586A"/>
                </a:solidFill>
                <a:latin typeface="Calibri"/>
              </a:rPr>
              <a:t> A quiet road costs less, a toll plaza more, and the platform reports sightings-per-camera-per-minute </a:t>
            </a:r>
            <a:r>
              <a:rPr sz="1050" b="0" i="0">
                <a:solidFill>
                  <a:srgbClr val="47586A"/>
                </a:solidFill>
                <a:latin typeface="Calibri"/>
              </a:rPr>
              <a:t>per camera</a:t>
            </a:r>
            <a:r>
              <a:rPr sz="1050" b="0" i="0">
                <a:solidFill>
                  <a:srgbClr val="47586A"/>
                </a:solidFill>
                <a:latin typeface="Calibri"/>
              </a:rPr>
              <a:t>, so the model stays checkable at rollout rather than only at design time.</a:t>
            </a:r>
          </a:p>
        </p:txBody>
      </p:sp>
      <p:sp>
        <p:nvSpPr>
          <p:cNvPr id="10" name="Rectangle 9"/>
          <p:cNvSpPr/>
          <p:nvPr/>
        </p:nvSpPr>
        <p:spPr>
          <a:xfrm>
            <a:off x="713232" y="6054979"/>
            <a:ext cx="10911535" cy="9525"/>
          </a:xfrm>
          <a:prstGeom prst="rect">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146419"/>
            <a:ext cx="10911535" cy="274320"/>
          </a:xfrm>
          <a:prstGeom prst="rect">
            <a:avLst/>
          </a:prstGeom>
          <a:noFill/>
        </p:spPr>
        <p:txBody>
          <a:bodyPr wrap="square" lIns="0" rIns="0" tIns="0" bIns="0">
            <a:spAutoFit/>
          </a:bodyPr>
          <a:lstStyle/>
          <a:p>
            <a:r>
              <a:rPr sz="850" b="1" i="0">
                <a:solidFill>
                  <a:srgbClr val="7A8A99"/>
                </a:solidFill>
                <a:latin typeface="Consolas"/>
              </a:rPr>
              <a:t>Saying this first is worth more than being asked.</a:t>
            </a:r>
            <a:r>
              <a:rPr sz="850" b="0" i="0">
                <a:solidFill>
                  <a:srgbClr val="7A8A99"/>
                </a:solidFill>
                <a:latin typeface="Consolas"/>
              </a:rPr>
              <a:t> It is also what makes every other number in this deck credible.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